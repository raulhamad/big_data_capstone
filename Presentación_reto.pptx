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6858000" cx="12192000"/>
  <p:notesSz cx="6858000" cy="9144000"/>
  <p:embeddedFontLst>
    <p:embeddedFont>
      <p:font typeface="Figtree"/>
      <p:regular r:id="rId23"/>
      <p:bold r:id="rId24"/>
      <p:italic r:id="rId25"/>
      <p:boldItalic r:id="rId26"/>
    </p:embeddedFont>
    <p:embeddedFont>
      <p:font typeface="Play"/>
      <p:regular r:id="rId27"/>
      <p:bold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9" roundtripDataSignature="AMtx7mjtEcK9A/Q4/lWNEzWcPuXlpsEQJ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Figtree-bold.fntdata"/><Relationship Id="rId23" Type="http://schemas.openxmlformats.org/officeDocument/2006/relationships/font" Target="fonts/Figtree-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Figtree-boldItalic.fntdata"/><Relationship Id="rId25" Type="http://schemas.openxmlformats.org/officeDocument/2006/relationships/font" Target="fonts/Figtree-italic.fntdata"/><Relationship Id="rId28" Type="http://schemas.openxmlformats.org/officeDocument/2006/relationships/font" Target="fonts/Play-bold.fntdata"/><Relationship Id="rId27" Type="http://schemas.openxmlformats.org/officeDocument/2006/relationships/font" Target="fonts/Play-regular.fntdata"/><Relationship Id="rId5" Type="http://schemas.openxmlformats.org/officeDocument/2006/relationships/slide" Target="slides/slide1.xml"/><Relationship Id="rId6" Type="http://schemas.openxmlformats.org/officeDocument/2006/relationships/slide" Target="slides/slide2.xml"/><Relationship Id="rId29" Type="http://customschemas.google.com/relationships/presentationmetadata" Target="metadata"/><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2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2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26" name="Google Shape;26;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2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24"/>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2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2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5" name="Shape 45"/>
        <p:cNvGrpSpPr/>
        <p:nvPr/>
      </p:nvGrpSpPr>
      <p:grpSpPr>
        <a:xfrm>
          <a:off x="0" y="0"/>
          <a:ext cx="0" cy="0"/>
          <a:chOff x="0" y="0"/>
          <a:chExt cx="0" cy="0"/>
        </a:xfrm>
      </p:grpSpPr>
      <p:sp>
        <p:nvSpPr>
          <p:cNvPr id="46" name="Google Shape;46;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2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2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2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8"/>
          <p:cNvSpPr/>
          <p:nvPr>
            <p:ph idx="2" type="pic"/>
          </p:nvPr>
        </p:nvSpPr>
        <p:spPr>
          <a:xfrm>
            <a:off x="5183188" y="987425"/>
            <a:ext cx="6172200" cy="4873625"/>
          </a:xfrm>
          <a:prstGeom prst="rect">
            <a:avLst/>
          </a:prstGeom>
          <a:noFill/>
          <a:ln>
            <a:noFill/>
          </a:ln>
        </p:spPr>
      </p:sp>
      <p:sp>
        <p:nvSpPr>
          <p:cNvPr id="64" name="Google Shape;64;p2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30"/>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B3E5A0"/>
            </a:gs>
            <a:gs pos="40000">
              <a:schemeClr val="lt1"/>
            </a:gs>
            <a:gs pos="89000">
              <a:schemeClr val="lt1"/>
            </a:gs>
            <a:gs pos="100000">
              <a:schemeClr val="lt1"/>
            </a:gs>
          </a:gsLst>
          <a:lin ang="5400000" scaled="0"/>
        </a:gradFill>
      </p:bgPr>
    </p:bg>
    <p:spTree>
      <p:nvGrpSpPr>
        <p:cNvPr id="5" name="Shape 5"/>
        <p:cNvGrpSpPr/>
        <p:nvPr/>
      </p:nvGrpSpPr>
      <p:grpSpPr>
        <a:xfrm>
          <a:off x="0" y="0"/>
          <a:ext cx="0" cy="0"/>
          <a:chOff x="0" y="0"/>
          <a:chExt cx="0" cy="0"/>
        </a:xfrm>
      </p:grpSpPr>
      <p:sp>
        <p:nvSpPr>
          <p:cNvPr id="6" name="Google Shape;6;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9.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image" Target="../media/image14.jpg"/><Relationship Id="rId5" Type="http://schemas.openxmlformats.org/officeDocument/2006/relationships/image" Target="../media/image2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12.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7.jp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7.jpg"/><Relationship Id="rId4" Type="http://schemas.openxmlformats.org/officeDocument/2006/relationships/image" Target="../media/image3.jpg"/><Relationship Id="rId5" Type="http://schemas.openxmlformats.org/officeDocument/2006/relationships/image" Target="../media/image1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5.jpg"/><Relationship Id="rId4" Type="http://schemas.openxmlformats.org/officeDocument/2006/relationships/image" Target="../media/image1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jpg"/><Relationship Id="rId4" Type="http://schemas.openxmlformats.org/officeDocument/2006/relationships/image" Target="../media/image29.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5.jpg"/><Relationship Id="rId4" Type="http://schemas.openxmlformats.org/officeDocument/2006/relationships/image" Target="../media/image28.png"/><Relationship Id="rId5" Type="http://schemas.openxmlformats.org/officeDocument/2006/relationships/image" Target="../media/image21.png"/><Relationship Id="rId6"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5.jpg"/><Relationship Id="rId4" Type="http://schemas.openxmlformats.org/officeDocument/2006/relationships/image" Target="../media/image28.png"/><Relationship Id="rId5"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5.jpg"/><Relationship Id="rId4" Type="http://schemas.openxmlformats.org/officeDocument/2006/relationships/image" Target="../media/image28.png"/><Relationship Id="rId5"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Sitio web&#10;&#10;El contenido generado por IA puede ser incorrecto." id="84" name="Google Shape;84;p1"/>
          <p:cNvPicPr preferRelativeResize="0"/>
          <p:nvPr/>
        </p:nvPicPr>
        <p:blipFill rotWithShape="1">
          <a:blip r:embed="rId3">
            <a:alphaModFix/>
          </a:blip>
          <a:srcRect b="0" l="0" r="0" t="0"/>
          <a:stretch/>
        </p:blipFill>
        <p:spPr>
          <a:xfrm>
            <a:off x="0" y="-1"/>
            <a:ext cx="12192000" cy="6858000"/>
          </a:xfrm>
          <a:prstGeom prst="rect">
            <a:avLst/>
          </a:prstGeom>
          <a:noFill/>
          <a:ln>
            <a:noFill/>
          </a:ln>
        </p:spPr>
      </p:pic>
      <p:sp>
        <p:nvSpPr>
          <p:cNvPr id="85" name="Google Shape;85;p1"/>
          <p:cNvSpPr txBox="1"/>
          <p:nvPr>
            <p:ph type="ctrTitle"/>
          </p:nvPr>
        </p:nvSpPr>
        <p:spPr>
          <a:xfrm>
            <a:off x="-85458" y="1"/>
            <a:ext cx="12277458" cy="105967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Play"/>
              <a:buNone/>
            </a:pPr>
            <a:r>
              <a:rPr lang="es-ES"/>
              <a:t>Del Dato al Bienestar Estratégico</a:t>
            </a:r>
            <a:endParaRPr/>
          </a:p>
        </p:txBody>
      </p:sp>
      <p:sp>
        <p:nvSpPr>
          <p:cNvPr id="86" name="Google Shape;86;p1"/>
          <p:cNvSpPr txBox="1"/>
          <p:nvPr>
            <p:ph idx="1" type="subTitle"/>
          </p:nvPr>
        </p:nvSpPr>
        <p:spPr>
          <a:xfrm>
            <a:off x="1524000" y="1059680"/>
            <a:ext cx="9144000" cy="48711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s-ES"/>
              <a:t>Resultados del Análisis de Bienestar y Energía del Colaborador.</a:t>
            </a:r>
            <a:endParaRPr/>
          </a:p>
        </p:txBody>
      </p:sp>
      <p:sp>
        <p:nvSpPr>
          <p:cNvPr id="87" name="Google Shape;87;p1"/>
          <p:cNvSpPr txBox="1"/>
          <p:nvPr/>
        </p:nvSpPr>
        <p:spPr>
          <a:xfrm>
            <a:off x="8665436" y="5306938"/>
            <a:ext cx="3443954" cy="1435694"/>
          </a:xfrm>
          <a:prstGeom prst="rect">
            <a:avLst/>
          </a:prstGeom>
          <a:noFill/>
          <a:ln>
            <a:noFill/>
          </a:ln>
        </p:spPr>
        <p:txBody>
          <a:bodyPr anchorCtr="0" anchor="t" bIns="45700" lIns="91425" spcFirstLastPara="1" rIns="91425" wrap="square" tIns="45700">
            <a:normAutofit fontScale="92500"/>
          </a:bodyPr>
          <a:lstStyle/>
          <a:p>
            <a:pPr indent="0" lvl="0" marL="0" marR="0" rtl="0" algn="r">
              <a:lnSpc>
                <a:spcPct val="90000"/>
              </a:lnSpc>
              <a:spcBef>
                <a:spcPts val="0"/>
              </a:spcBef>
              <a:spcAft>
                <a:spcPts val="0"/>
              </a:spcAft>
              <a:buClr>
                <a:schemeClr val="dk1"/>
              </a:buClr>
              <a:buSzPct val="100000"/>
              <a:buFont typeface="Arial"/>
              <a:buNone/>
            </a:pPr>
            <a:r>
              <a:rPr b="0" i="0" lang="es-ES" sz="2400" u="none" cap="none" strike="noStrike">
                <a:solidFill>
                  <a:schemeClr val="dk1"/>
                </a:solidFill>
                <a:latin typeface="Arial"/>
                <a:ea typeface="Arial"/>
                <a:cs typeface="Arial"/>
                <a:sym typeface="Arial"/>
              </a:rPr>
              <a:t>Raul Pachu Hamad</a:t>
            </a:r>
            <a:endParaRPr/>
          </a:p>
          <a:p>
            <a:pPr indent="0" lvl="0" marL="0" marR="0" rtl="0" algn="r">
              <a:lnSpc>
                <a:spcPct val="90000"/>
              </a:lnSpc>
              <a:spcBef>
                <a:spcPts val="1000"/>
              </a:spcBef>
              <a:spcAft>
                <a:spcPts val="0"/>
              </a:spcAft>
              <a:buClr>
                <a:schemeClr val="dk1"/>
              </a:buClr>
              <a:buSzPct val="100000"/>
              <a:buFont typeface="Arial"/>
              <a:buNone/>
            </a:pPr>
            <a:r>
              <a:rPr b="0" i="0" lang="es-ES" sz="2400" u="none" cap="none" strike="noStrike">
                <a:solidFill>
                  <a:schemeClr val="dk1"/>
                </a:solidFill>
                <a:latin typeface="Arial"/>
                <a:ea typeface="Arial"/>
                <a:cs typeface="Arial"/>
                <a:sym typeface="Arial"/>
              </a:rPr>
              <a:t>Ledo Peréz</a:t>
            </a:r>
            <a:endParaRPr b="0" i="0" sz="2400" u="none" cap="none" strike="noStrike">
              <a:solidFill>
                <a:schemeClr val="dk1"/>
              </a:solidFill>
              <a:latin typeface="Arial"/>
              <a:ea typeface="Arial"/>
              <a:cs typeface="Arial"/>
              <a:sym typeface="Arial"/>
            </a:endParaRPr>
          </a:p>
          <a:p>
            <a:pPr indent="0" lvl="0" marL="0" marR="0" rtl="0" algn="r">
              <a:lnSpc>
                <a:spcPct val="90000"/>
              </a:lnSpc>
              <a:spcBef>
                <a:spcPts val="1000"/>
              </a:spcBef>
              <a:spcAft>
                <a:spcPts val="0"/>
              </a:spcAft>
              <a:buClr>
                <a:schemeClr val="dk1"/>
              </a:buClr>
              <a:buSzPct val="100000"/>
              <a:buFont typeface="Arial"/>
              <a:buNone/>
            </a:pPr>
            <a:r>
              <a:rPr b="0" i="0" lang="es-ES" sz="2400" u="none" cap="none" strike="noStrike">
                <a:solidFill>
                  <a:schemeClr val="dk1"/>
                </a:solidFill>
                <a:latin typeface="Arial"/>
                <a:ea typeface="Arial"/>
                <a:cs typeface="Arial"/>
                <a:sym typeface="Arial"/>
              </a:rPr>
              <a:t>Ana Belen Rivero Moreno</a:t>
            </a:r>
            <a:endParaRPr b="0" i="0" sz="2400" u="none" cap="none" strike="noStrike">
              <a:solidFill>
                <a:schemeClr val="dk1"/>
              </a:solidFill>
              <a:latin typeface="Arial"/>
              <a:ea typeface="Arial"/>
              <a:cs typeface="Arial"/>
              <a:sym typeface="Arial"/>
            </a:endParaRPr>
          </a:p>
        </p:txBody>
      </p:sp>
      <p:pic>
        <p:nvPicPr>
          <p:cNvPr descr="Logotipo" id="88" name="Google Shape;88;p1"/>
          <p:cNvPicPr preferRelativeResize="0"/>
          <p:nvPr/>
        </p:nvPicPr>
        <p:blipFill rotWithShape="1">
          <a:blip r:embed="rId4">
            <a:alphaModFix/>
          </a:blip>
          <a:srcRect b="0" l="0" r="0" t="0"/>
          <a:stretch/>
        </p:blipFill>
        <p:spPr>
          <a:xfrm>
            <a:off x="367259" y="4768561"/>
            <a:ext cx="6318612" cy="197407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p:nvPr/>
        </p:nvSpPr>
        <p:spPr>
          <a:xfrm>
            <a:off x="4136164" y="3529413"/>
            <a:ext cx="3437654" cy="2363384"/>
          </a:xfrm>
          <a:prstGeom prst="roundRect">
            <a:avLst>
              <a:gd fmla="val 16667" name="adj"/>
            </a:avLst>
          </a:prstGeom>
          <a:solidFill>
            <a:srgbClr val="8CD872">
              <a:alpha val="15686"/>
            </a:srgb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4" name="Google Shape;94;p2"/>
          <p:cNvSpPr txBox="1"/>
          <p:nvPr>
            <p:ph type="title"/>
          </p:nvPr>
        </p:nvSpPr>
        <p:spPr>
          <a:xfrm>
            <a:off x="228600" y="2909453"/>
            <a:ext cx="3345873" cy="298334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Play"/>
              <a:buNone/>
            </a:pPr>
            <a:r>
              <a:rPr b="1" lang="es-ES" sz="2400"/>
              <a:t>Contexto:</a:t>
            </a:r>
            <a:br>
              <a:rPr lang="es-ES" sz="2800"/>
            </a:br>
            <a:br>
              <a:rPr lang="es-ES" sz="2800"/>
            </a:br>
            <a:r>
              <a:rPr lang="es-ES" sz="2000"/>
              <a:t>Somos el equipo de reto final de la formación en big data.</a:t>
            </a:r>
            <a:endParaRPr sz="2000"/>
          </a:p>
        </p:txBody>
      </p:sp>
      <p:sp>
        <p:nvSpPr>
          <p:cNvPr id="95" name="Google Shape;95;p2"/>
          <p:cNvSpPr txBox="1"/>
          <p:nvPr/>
        </p:nvSpPr>
        <p:spPr>
          <a:xfrm>
            <a:off x="4371109" y="3205018"/>
            <a:ext cx="3202709" cy="2687779"/>
          </a:xfrm>
          <a:prstGeom prst="rect">
            <a:avLst/>
          </a:prstGeom>
          <a:noFill/>
          <a:ln>
            <a:noFill/>
          </a:ln>
          <a:effectLst>
            <a:outerShdw rotWithShape="0" algn="ctr" dist="50800">
              <a:schemeClr val="lt1">
                <a:alpha val="42745"/>
              </a:schemeClr>
            </a:outerShdw>
          </a:effectLst>
        </p:spPr>
        <p:txBody>
          <a:bodyPr anchorCtr="0" anchor="ctr" bIns="45700" lIns="91425" spcFirstLastPara="1" rIns="91425" wrap="square" tIns="45700">
            <a:normAutofit fontScale="97500"/>
          </a:bodyPr>
          <a:lstStyle/>
          <a:p>
            <a:pPr indent="0" lvl="0" marL="0" marR="0" rtl="0" algn="l">
              <a:lnSpc>
                <a:spcPct val="90000"/>
              </a:lnSpc>
              <a:spcBef>
                <a:spcPts val="0"/>
              </a:spcBef>
              <a:spcAft>
                <a:spcPts val="0"/>
              </a:spcAft>
              <a:buClr>
                <a:schemeClr val="dk1"/>
              </a:buClr>
              <a:buSzPct val="100000"/>
              <a:buFont typeface="Play"/>
              <a:buNone/>
            </a:pPr>
            <a:r>
              <a:rPr b="1" i="0" lang="es-ES" sz="2500" u="none" cap="none" strike="noStrike">
                <a:solidFill>
                  <a:schemeClr val="dk1"/>
                </a:solidFill>
                <a:latin typeface="Play"/>
                <a:ea typeface="Play"/>
                <a:cs typeface="Play"/>
                <a:sym typeface="Play"/>
              </a:rPr>
              <a:t>Nuestra Misión:</a:t>
            </a:r>
            <a:endParaRPr/>
          </a:p>
          <a:p>
            <a:pPr indent="0" lvl="0" marL="0" marR="0" rtl="0" algn="l">
              <a:lnSpc>
                <a:spcPct val="90000"/>
              </a:lnSpc>
              <a:spcBef>
                <a:spcPts val="0"/>
              </a:spcBef>
              <a:spcAft>
                <a:spcPts val="0"/>
              </a:spcAft>
              <a:buClr>
                <a:schemeClr val="dk1"/>
              </a:buClr>
              <a:buSzPct val="100000"/>
              <a:buFont typeface="Play"/>
              <a:buNone/>
            </a:pPr>
            <a:r>
              <a:t/>
            </a:r>
            <a:endParaRPr b="0" i="0" sz="2800" u="none" cap="none" strike="noStrike">
              <a:solidFill>
                <a:schemeClr val="dk1"/>
              </a:solidFill>
              <a:latin typeface="Play"/>
              <a:ea typeface="Play"/>
              <a:cs typeface="Play"/>
              <a:sym typeface="Play"/>
            </a:endParaRPr>
          </a:p>
          <a:p>
            <a:pPr indent="0" lvl="0" marL="0" marR="0" rtl="0" algn="l">
              <a:lnSpc>
                <a:spcPct val="90000"/>
              </a:lnSpc>
              <a:spcBef>
                <a:spcPts val="0"/>
              </a:spcBef>
              <a:spcAft>
                <a:spcPts val="0"/>
              </a:spcAft>
              <a:buClr>
                <a:schemeClr val="dk1"/>
              </a:buClr>
              <a:buSzPct val="100000"/>
              <a:buFont typeface="Play"/>
              <a:buNone/>
            </a:pPr>
            <a:r>
              <a:rPr b="0" i="0" lang="es-ES" sz="2100" u="none" cap="none" strike="noStrike">
                <a:solidFill>
                  <a:schemeClr val="dk1"/>
                </a:solidFill>
                <a:latin typeface="Play"/>
                <a:ea typeface="Play"/>
                <a:cs typeface="Play"/>
                <a:sym typeface="Play"/>
              </a:rPr>
              <a:t>Transformar los datos de bienestar en una herramienta de gestión estratégica.</a:t>
            </a:r>
            <a:endParaRPr/>
          </a:p>
        </p:txBody>
      </p:sp>
      <p:sp>
        <p:nvSpPr>
          <p:cNvPr id="96" name="Google Shape;96;p2"/>
          <p:cNvSpPr txBox="1"/>
          <p:nvPr/>
        </p:nvSpPr>
        <p:spPr>
          <a:xfrm>
            <a:off x="7947589" y="3205018"/>
            <a:ext cx="4244411" cy="3135959"/>
          </a:xfrm>
          <a:prstGeom prst="rect">
            <a:avLst/>
          </a:prstGeom>
          <a:noFill/>
          <a:ln>
            <a:noFill/>
          </a:ln>
        </p:spPr>
        <p:txBody>
          <a:bodyPr anchorCtr="0" anchor="ctr" bIns="45700" lIns="91425" spcFirstLastPara="1" rIns="91425" wrap="square" tIns="45700">
            <a:normAutofit fontScale="25000" lnSpcReduction="20000"/>
          </a:bodyPr>
          <a:lstStyle/>
          <a:p>
            <a:pPr indent="0" lvl="0" marL="0" marR="0" rtl="0" algn="l">
              <a:lnSpc>
                <a:spcPct val="90000"/>
              </a:lnSpc>
              <a:spcBef>
                <a:spcPts val="0"/>
              </a:spcBef>
              <a:spcAft>
                <a:spcPts val="0"/>
              </a:spcAft>
              <a:buClr>
                <a:schemeClr val="dk1"/>
              </a:buClr>
              <a:buSzPct val="100000"/>
              <a:buFont typeface="Play"/>
              <a:buNone/>
            </a:pPr>
            <a:r>
              <a:t/>
            </a:r>
            <a:endParaRPr b="1" i="0" sz="9600" u="none" cap="none" strike="noStrike">
              <a:solidFill>
                <a:schemeClr val="dk1"/>
              </a:solidFill>
              <a:latin typeface="Play"/>
              <a:ea typeface="Play"/>
              <a:cs typeface="Play"/>
              <a:sym typeface="Play"/>
            </a:endParaRPr>
          </a:p>
          <a:p>
            <a:pPr indent="0" lvl="0" marL="0" marR="0" rtl="0" algn="l">
              <a:lnSpc>
                <a:spcPct val="90000"/>
              </a:lnSpc>
              <a:spcBef>
                <a:spcPts val="0"/>
              </a:spcBef>
              <a:spcAft>
                <a:spcPts val="0"/>
              </a:spcAft>
              <a:buClr>
                <a:schemeClr val="dk1"/>
              </a:buClr>
              <a:buSzPct val="100000"/>
              <a:buFont typeface="Play"/>
              <a:buNone/>
            </a:pPr>
            <a:r>
              <a:rPr b="1" i="0" lang="es-ES" sz="9600" u="none" cap="none" strike="noStrike">
                <a:solidFill>
                  <a:schemeClr val="dk1"/>
                </a:solidFill>
                <a:latin typeface="Play"/>
                <a:ea typeface="Play"/>
                <a:cs typeface="Play"/>
                <a:sym typeface="Play"/>
              </a:rPr>
              <a:t>Nuestro rol en este proyecto:</a:t>
            </a:r>
            <a:endParaRPr/>
          </a:p>
          <a:p>
            <a:pPr indent="0" lvl="0" marL="0" marR="0" rtl="0" algn="l">
              <a:lnSpc>
                <a:spcPct val="90000"/>
              </a:lnSpc>
              <a:spcBef>
                <a:spcPts val="0"/>
              </a:spcBef>
              <a:spcAft>
                <a:spcPts val="0"/>
              </a:spcAft>
              <a:buClr>
                <a:schemeClr val="dk1"/>
              </a:buClr>
              <a:buSzPct val="100000"/>
              <a:buFont typeface="Play"/>
              <a:buNone/>
            </a:pPr>
            <a:r>
              <a:t/>
            </a:r>
            <a:endParaRPr b="1" i="0" sz="4400" u="none" cap="none" strike="noStrike">
              <a:solidFill>
                <a:schemeClr val="dk1"/>
              </a:solidFill>
              <a:latin typeface="Play"/>
              <a:ea typeface="Play"/>
              <a:cs typeface="Play"/>
              <a:sym typeface="Play"/>
            </a:endParaRPr>
          </a:p>
          <a:p>
            <a:pPr indent="0" lvl="0" marL="0" marR="0" rtl="0" algn="l">
              <a:lnSpc>
                <a:spcPct val="90000"/>
              </a:lnSpc>
              <a:spcBef>
                <a:spcPts val="0"/>
              </a:spcBef>
              <a:spcAft>
                <a:spcPts val="0"/>
              </a:spcAft>
              <a:buClr>
                <a:schemeClr val="dk1"/>
              </a:buClr>
              <a:buSzPct val="100000"/>
              <a:buFont typeface="Play"/>
              <a:buNone/>
            </a:pPr>
            <a:r>
              <a:t/>
            </a:r>
            <a:endParaRPr b="1" i="0" sz="4400" u="none" cap="none" strike="noStrike">
              <a:solidFill>
                <a:schemeClr val="dk1"/>
              </a:solidFill>
              <a:latin typeface="Play"/>
              <a:ea typeface="Play"/>
              <a:cs typeface="Play"/>
              <a:sym typeface="Play"/>
            </a:endParaRPr>
          </a:p>
          <a:p>
            <a:pPr indent="0" lvl="0" marL="0" marR="0" rtl="0" algn="l">
              <a:lnSpc>
                <a:spcPct val="90000"/>
              </a:lnSpc>
              <a:spcBef>
                <a:spcPts val="0"/>
              </a:spcBef>
              <a:spcAft>
                <a:spcPts val="0"/>
              </a:spcAft>
              <a:buClr>
                <a:srgbClr val="000000"/>
              </a:buClr>
              <a:buSzPct val="100000"/>
              <a:buFont typeface="Figtree"/>
              <a:buNone/>
            </a:pPr>
            <a:r>
              <a:rPr b="0" i="0" lang="es-ES" sz="3600" u="none" cap="none" strike="noStrike">
                <a:solidFill>
                  <a:srgbClr val="000000"/>
                </a:solidFill>
                <a:latin typeface="Figtree"/>
                <a:ea typeface="Figtree"/>
                <a:cs typeface="Figtree"/>
                <a:sym typeface="Figtree"/>
              </a:rPr>
              <a:t>●</a:t>
            </a:r>
            <a:r>
              <a:rPr b="1" i="0" lang="es-ES" sz="6700" u="none" cap="none" strike="noStrike">
                <a:solidFill>
                  <a:schemeClr val="dk1"/>
                </a:solidFill>
                <a:latin typeface="Play"/>
                <a:ea typeface="Play"/>
                <a:cs typeface="Play"/>
                <a:sym typeface="Play"/>
              </a:rPr>
              <a:t>Modelado:</a:t>
            </a:r>
            <a:r>
              <a:rPr b="0" i="0" lang="es-ES" sz="6700" u="none" cap="none" strike="noStrike">
                <a:solidFill>
                  <a:schemeClr val="dk1"/>
                </a:solidFill>
                <a:latin typeface="Play"/>
                <a:ea typeface="Play"/>
                <a:cs typeface="Play"/>
                <a:sym typeface="Play"/>
              </a:rPr>
              <a:t> Garantizar la calidad, fiabilidad e información.</a:t>
            </a:r>
            <a:endParaRPr/>
          </a:p>
          <a:p>
            <a:pPr indent="0" lvl="0" marL="0" marR="0" rtl="0" algn="l">
              <a:lnSpc>
                <a:spcPct val="90000"/>
              </a:lnSpc>
              <a:spcBef>
                <a:spcPts val="0"/>
              </a:spcBef>
              <a:spcAft>
                <a:spcPts val="0"/>
              </a:spcAft>
              <a:buClr>
                <a:schemeClr val="dk1"/>
              </a:buClr>
              <a:buSzPct val="100000"/>
              <a:buFont typeface="Play"/>
              <a:buNone/>
            </a:pPr>
            <a:r>
              <a:t/>
            </a:r>
            <a:endParaRPr b="0" i="0" sz="6700" u="none" cap="none" strike="noStrike">
              <a:solidFill>
                <a:schemeClr val="dk1"/>
              </a:solidFill>
              <a:latin typeface="Play"/>
              <a:ea typeface="Play"/>
              <a:cs typeface="Play"/>
              <a:sym typeface="Play"/>
            </a:endParaRPr>
          </a:p>
          <a:p>
            <a:pPr indent="0" lvl="0" marL="0" marR="0" rtl="0" algn="l">
              <a:lnSpc>
                <a:spcPct val="90000"/>
              </a:lnSpc>
              <a:spcBef>
                <a:spcPts val="0"/>
              </a:spcBef>
              <a:spcAft>
                <a:spcPts val="0"/>
              </a:spcAft>
              <a:buClr>
                <a:srgbClr val="000000"/>
              </a:buClr>
              <a:buSzPct val="100000"/>
              <a:buFont typeface="Figtree"/>
              <a:buNone/>
            </a:pPr>
            <a:r>
              <a:rPr b="0" i="0" lang="es-ES" sz="3600" u="none" cap="none" strike="noStrike">
                <a:solidFill>
                  <a:srgbClr val="000000"/>
                </a:solidFill>
                <a:latin typeface="Figtree"/>
                <a:ea typeface="Figtree"/>
                <a:cs typeface="Figtree"/>
                <a:sym typeface="Figtree"/>
              </a:rPr>
              <a:t>● </a:t>
            </a:r>
            <a:r>
              <a:rPr b="1" i="0" lang="es-ES" sz="6700" u="none" cap="none" strike="noStrike">
                <a:solidFill>
                  <a:schemeClr val="dk1"/>
                </a:solidFill>
                <a:latin typeface="Play"/>
                <a:ea typeface="Play"/>
                <a:cs typeface="Play"/>
                <a:sym typeface="Play"/>
              </a:rPr>
              <a:t>Visualización: </a:t>
            </a:r>
            <a:r>
              <a:rPr b="0" i="0" lang="es-ES" sz="6700" u="none" cap="none" strike="noStrike">
                <a:solidFill>
                  <a:schemeClr val="dk1"/>
                </a:solidFill>
                <a:latin typeface="Play"/>
                <a:ea typeface="Play"/>
                <a:cs typeface="Play"/>
                <a:sym typeface="Play"/>
              </a:rPr>
              <a:t>Creación de un dashboard dinámico en Power BI.</a:t>
            </a:r>
            <a:endParaRPr/>
          </a:p>
          <a:p>
            <a:pPr indent="0" lvl="0" marL="0" marR="0" rtl="0" algn="l">
              <a:lnSpc>
                <a:spcPct val="90000"/>
              </a:lnSpc>
              <a:spcBef>
                <a:spcPts val="0"/>
              </a:spcBef>
              <a:spcAft>
                <a:spcPts val="0"/>
              </a:spcAft>
              <a:buClr>
                <a:schemeClr val="dk1"/>
              </a:buClr>
              <a:buSzPct val="100000"/>
              <a:buFont typeface="Play"/>
              <a:buNone/>
            </a:pPr>
            <a:r>
              <a:t/>
            </a:r>
            <a:endParaRPr b="0" i="0" sz="6700" u="none" cap="none" strike="noStrike">
              <a:solidFill>
                <a:schemeClr val="dk1"/>
              </a:solidFill>
              <a:latin typeface="Play"/>
              <a:ea typeface="Play"/>
              <a:cs typeface="Play"/>
              <a:sym typeface="Play"/>
            </a:endParaRPr>
          </a:p>
          <a:p>
            <a:pPr indent="0" lvl="0" marL="0" marR="0" rtl="0" algn="l">
              <a:lnSpc>
                <a:spcPct val="90000"/>
              </a:lnSpc>
              <a:spcBef>
                <a:spcPts val="0"/>
              </a:spcBef>
              <a:spcAft>
                <a:spcPts val="0"/>
              </a:spcAft>
              <a:buClr>
                <a:srgbClr val="000000"/>
              </a:buClr>
              <a:buSzPct val="100000"/>
              <a:buFont typeface="Figtree"/>
              <a:buNone/>
            </a:pPr>
            <a:r>
              <a:rPr b="0" i="0" lang="es-ES" sz="3600" u="none" cap="none" strike="noStrike">
                <a:solidFill>
                  <a:srgbClr val="000000"/>
                </a:solidFill>
                <a:latin typeface="Figtree"/>
                <a:ea typeface="Figtree"/>
                <a:cs typeface="Figtree"/>
                <a:sym typeface="Figtree"/>
              </a:rPr>
              <a:t>● </a:t>
            </a:r>
            <a:r>
              <a:rPr b="1" i="0" lang="es-ES" sz="6700" u="none" cap="none" strike="noStrike">
                <a:solidFill>
                  <a:schemeClr val="dk1"/>
                </a:solidFill>
                <a:latin typeface="Play"/>
                <a:ea typeface="Play"/>
                <a:cs typeface="Play"/>
                <a:sym typeface="Play"/>
              </a:rPr>
              <a:t>Valor:</a:t>
            </a:r>
            <a:r>
              <a:rPr b="0" i="0" lang="es-ES" sz="6700" u="none" cap="none" strike="noStrike">
                <a:solidFill>
                  <a:schemeClr val="dk1"/>
                </a:solidFill>
                <a:latin typeface="Play"/>
                <a:ea typeface="Play"/>
                <a:cs typeface="Play"/>
                <a:sym typeface="Play"/>
              </a:rPr>
              <a:t> Transformar los datos en información útil para la toma de decisiones.</a:t>
            </a:r>
            <a:endParaRPr/>
          </a:p>
        </p:txBody>
      </p:sp>
      <p:sp>
        <p:nvSpPr>
          <p:cNvPr id="97" name="Google Shape;97;p2"/>
          <p:cNvSpPr/>
          <p:nvPr/>
        </p:nvSpPr>
        <p:spPr>
          <a:xfrm>
            <a:off x="1092199" y="337128"/>
            <a:ext cx="2267400" cy="2363400"/>
          </a:xfrm>
          <a:prstGeom prst="flowChartConnector">
            <a:avLst/>
          </a:prstGeom>
          <a:gradFill>
            <a:gsLst>
              <a:gs pos="0">
                <a:srgbClr val="B3E5A0"/>
              </a:gs>
              <a:gs pos="40000">
                <a:schemeClr val="lt1"/>
              </a:gs>
              <a:gs pos="89000">
                <a:schemeClr val="lt1"/>
              </a:gs>
              <a:gs pos="100000">
                <a:schemeClr val="lt1"/>
              </a:gs>
            </a:gsLst>
            <a:lin ang="5400000" scaled="0"/>
          </a:gra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8" name="Google Shape;98;p2"/>
          <p:cNvSpPr/>
          <p:nvPr/>
        </p:nvSpPr>
        <p:spPr>
          <a:xfrm>
            <a:off x="4966854" y="337128"/>
            <a:ext cx="2258292" cy="2363384"/>
          </a:xfrm>
          <a:prstGeom prst="flowChartConnector">
            <a:avLst/>
          </a:prstGeom>
          <a:blipFill rotWithShape="1">
            <a:blip r:embed="rId3">
              <a:alphaModFix/>
            </a:blip>
            <a:stretch>
              <a:fillRect b="0" l="0" r="0" t="0"/>
            </a:stretch>
          </a:blip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9" name="Google Shape;99;p2"/>
          <p:cNvSpPr/>
          <p:nvPr/>
        </p:nvSpPr>
        <p:spPr>
          <a:xfrm>
            <a:off x="8832273" y="337128"/>
            <a:ext cx="2267528" cy="2363384"/>
          </a:xfrm>
          <a:prstGeom prst="flowChartConnector">
            <a:avLst/>
          </a:prstGeom>
          <a:blipFill rotWithShape="1">
            <a:blip r:embed="rId4">
              <a:alphaModFix/>
            </a:blip>
            <a:stretch>
              <a:fillRect b="0" l="0" r="0" t="0"/>
            </a:stretch>
          </a:blip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00" name="Google Shape;100;p2"/>
          <p:cNvSpPr txBox="1"/>
          <p:nvPr/>
        </p:nvSpPr>
        <p:spPr>
          <a:xfrm>
            <a:off x="5365334" y="2768099"/>
            <a:ext cx="1461331"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ES" sz="1400" u="none" cap="none" strike="noStrike">
                <a:solidFill>
                  <a:schemeClr val="dk1"/>
                </a:solidFill>
                <a:latin typeface="Arial"/>
                <a:ea typeface="Arial"/>
                <a:cs typeface="Arial"/>
                <a:sym typeface="Arial"/>
              </a:rPr>
              <a:t>Raul Hamad</a:t>
            </a:r>
            <a:endParaRPr b="1" i="0" sz="1400" u="none" cap="none" strike="noStrike">
              <a:solidFill>
                <a:schemeClr val="dk1"/>
              </a:solidFill>
              <a:latin typeface="Arial"/>
              <a:ea typeface="Arial"/>
              <a:cs typeface="Arial"/>
              <a:sym typeface="Arial"/>
            </a:endParaRPr>
          </a:p>
        </p:txBody>
      </p:sp>
      <p:sp>
        <p:nvSpPr>
          <p:cNvPr id="101" name="Google Shape;101;p2"/>
          <p:cNvSpPr txBox="1"/>
          <p:nvPr/>
        </p:nvSpPr>
        <p:spPr>
          <a:xfrm>
            <a:off x="9339128" y="2768098"/>
            <a:ext cx="1461331"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ES" sz="1400" u="none" cap="none" strike="noStrike">
                <a:solidFill>
                  <a:schemeClr val="dk1"/>
                </a:solidFill>
                <a:latin typeface="Arial"/>
                <a:ea typeface="Arial"/>
                <a:cs typeface="Arial"/>
                <a:sym typeface="Arial"/>
              </a:rPr>
              <a:t>Ana Belen</a:t>
            </a:r>
            <a:endParaRPr b="1" i="0" sz="1400" u="none" cap="none" strike="noStrike">
              <a:solidFill>
                <a:schemeClr val="dk1"/>
              </a:solidFill>
              <a:latin typeface="Arial"/>
              <a:ea typeface="Arial"/>
              <a:cs typeface="Arial"/>
              <a:sym typeface="Arial"/>
            </a:endParaRPr>
          </a:p>
        </p:txBody>
      </p:sp>
      <p:sp>
        <p:nvSpPr>
          <p:cNvPr id="102" name="Google Shape;102;p2"/>
          <p:cNvSpPr txBox="1"/>
          <p:nvPr/>
        </p:nvSpPr>
        <p:spPr>
          <a:xfrm>
            <a:off x="1391540" y="2768098"/>
            <a:ext cx="1461331"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ES" sz="1400" u="none" cap="none" strike="noStrike">
                <a:solidFill>
                  <a:schemeClr val="dk1"/>
                </a:solidFill>
                <a:latin typeface="Arial"/>
                <a:ea typeface="Arial"/>
                <a:cs typeface="Arial"/>
                <a:sym typeface="Arial"/>
              </a:rPr>
              <a:t>Ledo Peréz</a:t>
            </a:r>
            <a:endParaRPr b="1" i="0" sz="1400" u="none" cap="none" strike="noStrike">
              <a:solidFill>
                <a:schemeClr val="dk1"/>
              </a:solidFill>
              <a:latin typeface="Arial"/>
              <a:ea typeface="Arial"/>
              <a:cs typeface="Arial"/>
              <a:sym typeface="Arial"/>
            </a:endParaRPr>
          </a:p>
        </p:txBody>
      </p:sp>
      <p:pic>
        <p:nvPicPr>
          <p:cNvPr id="103" name="Google Shape;103;p2"/>
          <p:cNvPicPr preferRelativeResize="0"/>
          <p:nvPr/>
        </p:nvPicPr>
        <p:blipFill rotWithShape="1">
          <a:blip r:embed="rId5">
            <a:alphaModFix/>
          </a:blip>
          <a:srcRect b="3516" l="7647" r="8311" t="12766"/>
          <a:stretch/>
        </p:blipFill>
        <p:spPr>
          <a:xfrm>
            <a:off x="1092200" y="337200"/>
            <a:ext cx="2258400" cy="2363400"/>
          </a:xfrm>
          <a:prstGeom prst="ellipse">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3"/>
          <p:cNvSpPr txBox="1"/>
          <p:nvPr>
            <p:ph type="title"/>
          </p:nvPr>
        </p:nvSpPr>
        <p:spPr>
          <a:xfrm>
            <a:off x="376015" y="77420"/>
            <a:ext cx="11613735" cy="120495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Play"/>
              <a:buNone/>
            </a:pPr>
            <a:r>
              <a:rPr b="1" lang="es-ES"/>
              <a:t>Abordaje del Reto: Del Cuestionario a la Estrategia</a:t>
            </a:r>
            <a:endParaRPr/>
          </a:p>
        </p:txBody>
      </p:sp>
      <p:sp>
        <p:nvSpPr>
          <p:cNvPr id="109" name="Google Shape;109;p3"/>
          <p:cNvSpPr/>
          <p:nvPr/>
        </p:nvSpPr>
        <p:spPr>
          <a:xfrm>
            <a:off x="581826" y="1914257"/>
            <a:ext cx="4946186" cy="3636797"/>
          </a:xfrm>
          <a:prstGeom prst="roundRect">
            <a:avLst>
              <a:gd fmla="val 16667" name="adj"/>
            </a:avLst>
          </a:prstGeom>
          <a:solidFill>
            <a:schemeClr val="accent6">
              <a:alpha val="15686"/>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Arial"/>
              <a:buNone/>
            </a:pPr>
            <a:r>
              <a:rPr b="1" i="0" lang="es-ES" sz="2400" u="none" cap="none" strike="noStrike">
                <a:solidFill>
                  <a:schemeClr val="dk1"/>
                </a:solidFill>
                <a:latin typeface="Arial"/>
                <a:ea typeface="Arial"/>
                <a:cs typeface="Arial"/>
                <a:sym typeface="Arial"/>
              </a:rPr>
              <a:t>Nuestro Reto</a:t>
            </a:r>
            <a:endParaRPr/>
          </a:p>
          <a:p>
            <a:pPr indent="0" lvl="0" marL="0" marR="0" rtl="0" algn="l">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1" marL="457200" marR="0" rtl="0" algn="l">
              <a:spcBef>
                <a:spcPts val="0"/>
              </a:spcBef>
              <a:spcAft>
                <a:spcPts val="0"/>
              </a:spcAft>
              <a:buNone/>
            </a:pPr>
            <a:r>
              <a:rPr b="0" i="0" lang="es-ES" sz="1800" u="none" cap="none" strike="noStrike">
                <a:solidFill>
                  <a:schemeClr val="dk1"/>
                </a:solidFill>
                <a:latin typeface="Arial"/>
                <a:ea typeface="Arial"/>
                <a:cs typeface="Arial"/>
                <a:sym typeface="Arial"/>
              </a:rPr>
              <a:t>Tomar una base de datos</a:t>
            </a:r>
            <a:endParaRPr b="0" i="0" sz="1800" u="none" cap="none" strike="noStrike">
              <a:solidFill>
                <a:schemeClr val="dk1"/>
              </a:solidFill>
              <a:latin typeface="Arial"/>
              <a:ea typeface="Arial"/>
              <a:cs typeface="Arial"/>
              <a:sym typeface="Arial"/>
            </a:endParaRPr>
          </a:p>
          <a:p>
            <a:pPr indent="0" lvl="1" marL="45720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a:p>
            <a:pPr indent="0" lvl="1" marL="457200" marR="0" rtl="0" algn="l">
              <a:spcBef>
                <a:spcPts val="0"/>
              </a:spcBef>
              <a:spcAft>
                <a:spcPts val="0"/>
              </a:spcAft>
              <a:buNone/>
            </a:pPr>
            <a:r>
              <a:rPr b="0" i="0" lang="es-ES" sz="1800" u="none" cap="none" strike="noStrike">
                <a:solidFill>
                  <a:schemeClr val="dk1"/>
                </a:solidFill>
                <a:latin typeface="Arial"/>
                <a:ea typeface="Arial"/>
                <a:cs typeface="Arial"/>
                <a:sym typeface="Arial"/>
              </a:rPr>
              <a:t>Medir y analizar el bienestar y la energía del equipo.</a:t>
            </a:r>
            <a:endParaRPr/>
          </a:p>
          <a:p>
            <a:pPr indent="0" lvl="1" marL="45720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a:p>
            <a:pPr indent="0" lvl="1" marL="457200" marR="0" rtl="0" algn="l">
              <a:spcBef>
                <a:spcPts val="0"/>
              </a:spcBef>
              <a:spcAft>
                <a:spcPts val="0"/>
              </a:spcAft>
              <a:buNone/>
            </a:pPr>
            <a:r>
              <a:rPr b="0" i="0" lang="es-ES" sz="1800" u="none" cap="none" strike="noStrike">
                <a:solidFill>
                  <a:schemeClr val="dk1"/>
                </a:solidFill>
                <a:latin typeface="Arial"/>
                <a:ea typeface="Arial"/>
                <a:cs typeface="Arial"/>
                <a:sym typeface="Arial"/>
              </a:rPr>
              <a:t>Identificar riesgos y prioridades de acción para la empresa.</a:t>
            </a:r>
            <a:endParaRPr/>
          </a:p>
        </p:txBody>
      </p:sp>
      <p:pic>
        <p:nvPicPr>
          <p:cNvPr descr="Dibujo de una persona&#10;&#10;El contenido generado por IA puede ser incorrecto." id="110" name="Google Shape;110;p3"/>
          <p:cNvPicPr preferRelativeResize="0"/>
          <p:nvPr/>
        </p:nvPicPr>
        <p:blipFill rotWithShape="1">
          <a:blip r:embed="rId3">
            <a:alphaModFix/>
          </a:blip>
          <a:srcRect b="0" l="0" r="0" t="0"/>
          <a:stretch/>
        </p:blipFill>
        <p:spPr>
          <a:xfrm>
            <a:off x="748450" y="3022897"/>
            <a:ext cx="376077" cy="376077"/>
          </a:xfrm>
          <a:prstGeom prst="rect">
            <a:avLst/>
          </a:prstGeom>
          <a:noFill/>
          <a:ln>
            <a:noFill/>
          </a:ln>
        </p:spPr>
      </p:pic>
      <p:pic>
        <p:nvPicPr>
          <p:cNvPr descr="Forma&#10;&#10;El contenido generado por IA puede ser incorrecto." id="111" name="Google Shape;111;p3"/>
          <p:cNvPicPr preferRelativeResize="0"/>
          <p:nvPr/>
        </p:nvPicPr>
        <p:blipFill rotWithShape="1">
          <a:blip r:embed="rId4">
            <a:alphaModFix/>
          </a:blip>
          <a:srcRect b="0" l="0" r="0" t="0"/>
          <a:stretch/>
        </p:blipFill>
        <p:spPr>
          <a:xfrm>
            <a:off x="748450" y="3622956"/>
            <a:ext cx="376076" cy="376076"/>
          </a:xfrm>
          <a:prstGeom prst="rect">
            <a:avLst/>
          </a:prstGeom>
          <a:noFill/>
          <a:ln>
            <a:noFill/>
          </a:ln>
        </p:spPr>
      </p:pic>
      <p:pic>
        <p:nvPicPr>
          <p:cNvPr descr="Forma&#10;&#10;El contenido generado por IA puede ser incorrecto." id="112" name="Google Shape;112;p3"/>
          <p:cNvPicPr preferRelativeResize="0"/>
          <p:nvPr/>
        </p:nvPicPr>
        <p:blipFill rotWithShape="1">
          <a:blip r:embed="rId5">
            <a:alphaModFix/>
          </a:blip>
          <a:srcRect b="0" l="0" r="0" t="0"/>
          <a:stretch/>
        </p:blipFill>
        <p:spPr>
          <a:xfrm>
            <a:off x="691866" y="4304421"/>
            <a:ext cx="489244" cy="535426"/>
          </a:xfrm>
          <a:prstGeom prst="rect">
            <a:avLst/>
          </a:prstGeom>
          <a:noFill/>
          <a:ln>
            <a:noFill/>
          </a:ln>
        </p:spPr>
      </p:pic>
      <p:sp>
        <p:nvSpPr>
          <p:cNvPr id="113" name="Google Shape;113;p3"/>
          <p:cNvSpPr/>
          <p:nvPr/>
        </p:nvSpPr>
        <p:spPr>
          <a:xfrm>
            <a:off x="6253018" y="1914257"/>
            <a:ext cx="5357155" cy="3636797"/>
          </a:xfrm>
          <a:prstGeom prst="roundRect">
            <a:avLst>
              <a:gd fmla="val 16667" name="adj"/>
            </a:avLst>
          </a:prstGeom>
          <a:solidFill>
            <a:schemeClr val="accent6">
              <a:alpha val="15686"/>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s-ES" sz="2400" u="none" cap="none" strike="noStrike">
                <a:solidFill>
                  <a:schemeClr val="dk1"/>
                </a:solidFill>
                <a:latin typeface="Arial"/>
                <a:ea typeface="Arial"/>
                <a:cs typeface="Arial"/>
                <a:sym typeface="Arial"/>
              </a:rPr>
              <a:t>Lo que Entregamos</a:t>
            </a:r>
            <a:endParaRPr/>
          </a:p>
          <a:p>
            <a:pPr indent="0" lvl="0" marL="0" marR="0" rtl="0" algn="ctr">
              <a:spcBef>
                <a:spcPts val="0"/>
              </a:spcBef>
              <a:spcAft>
                <a:spcPts val="0"/>
              </a:spcAft>
              <a:buNone/>
            </a:pPr>
            <a:r>
              <a:t/>
            </a:r>
            <a:endParaRPr b="1" i="0" sz="2400" u="none" cap="none" strike="noStrike">
              <a:solidFill>
                <a:schemeClr val="dk1"/>
              </a:solidFill>
              <a:latin typeface="Arial"/>
              <a:ea typeface="Arial"/>
              <a:cs typeface="Arial"/>
              <a:sym typeface="Arial"/>
            </a:endParaRPr>
          </a:p>
          <a:p>
            <a:pPr indent="0" lvl="1" marL="457200" marR="0" rtl="0" algn="l">
              <a:spcBef>
                <a:spcPts val="0"/>
              </a:spcBef>
              <a:spcAft>
                <a:spcPts val="0"/>
              </a:spcAft>
              <a:buNone/>
            </a:pPr>
            <a:r>
              <a:rPr b="0" i="0" lang="es-ES" sz="1800" u="none" cap="none" strike="noStrike">
                <a:solidFill>
                  <a:schemeClr val="dk1"/>
                </a:solidFill>
                <a:latin typeface="Arial"/>
                <a:ea typeface="Arial"/>
                <a:cs typeface="Arial"/>
                <a:sym typeface="Arial"/>
              </a:rPr>
              <a:t>Un dashboard interactivo en Power BI para la toma de decisiones continua.</a:t>
            </a:r>
            <a:endParaRPr/>
          </a:p>
          <a:p>
            <a:pPr indent="0" lvl="1" marL="45720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a:p>
            <a:pPr indent="0" lvl="1" marL="45720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a:p>
            <a:pPr indent="0" lvl="1" marL="457200" marR="0" rtl="0" algn="l">
              <a:spcBef>
                <a:spcPts val="0"/>
              </a:spcBef>
              <a:spcAft>
                <a:spcPts val="0"/>
              </a:spcAft>
              <a:buNone/>
            </a:pPr>
            <a:r>
              <a:rPr b="0" i="0" lang="es-ES" sz="1800" u="none" cap="none" strike="noStrike">
                <a:solidFill>
                  <a:schemeClr val="dk1"/>
                </a:solidFill>
                <a:latin typeface="Arial"/>
                <a:ea typeface="Arial"/>
                <a:cs typeface="Arial"/>
                <a:sym typeface="Arial"/>
              </a:rPr>
              <a:t>Un informe con recomendaciones y acciones a priorizar, basado en datos.</a:t>
            </a:r>
            <a:endParaRPr b="0" i="0" sz="1800" u="none" cap="none" strike="noStrike">
              <a:solidFill>
                <a:schemeClr val="dk1"/>
              </a:solidFill>
              <a:latin typeface="Arial"/>
              <a:ea typeface="Arial"/>
              <a:cs typeface="Arial"/>
              <a:sym typeface="Arial"/>
            </a:endParaRPr>
          </a:p>
        </p:txBody>
      </p:sp>
      <p:pic>
        <p:nvPicPr>
          <p:cNvPr descr="Forma&#10;&#10;El contenido generado por IA puede ser incorrecto." id="114" name="Google Shape;114;p3"/>
          <p:cNvPicPr preferRelativeResize="0"/>
          <p:nvPr/>
        </p:nvPicPr>
        <p:blipFill rotWithShape="1">
          <a:blip r:embed="rId6">
            <a:alphaModFix/>
          </a:blip>
          <a:srcRect b="0" l="0" r="0" t="0"/>
          <a:stretch/>
        </p:blipFill>
        <p:spPr>
          <a:xfrm>
            <a:off x="6380633" y="3206487"/>
            <a:ext cx="526168" cy="526168"/>
          </a:xfrm>
          <a:prstGeom prst="rect">
            <a:avLst/>
          </a:prstGeom>
          <a:noFill/>
          <a:ln>
            <a:noFill/>
          </a:ln>
        </p:spPr>
      </p:pic>
      <p:pic>
        <p:nvPicPr>
          <p:cNvPr descr="Forma&#10;&#10;El contenido generado por IA puede ser incorrecto." id="115" name="Google Shape;115;p3"/>
          <p:cNvPicPr preferRelativeResize="0"/>
          <p:nvPr/>
        </p:nvPicPr>
        <p:blipFill rotWithShape="1">
          <a:blip r:embed="rId7">
            <a:alphaModFix/>
          </a:blip>
          <a:srcRect b="0" l="0" r="0" t="0"/>
          <a:stretch/>
        </p:blipFill>
        <p:spPr>
          <a:xfrm>
            <a:off x="6415112" y="4429099"/>
            <a:ext cx="457211" cy="45721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4"/>
          <p:cNvSpPr txBox="1"/>
          <p:nvPr>
            <p:ph type="title"/>
          </p:nvPr>
        </p:nvSpPr>
        <p:spPr>
          <a:xfrm>
            <a:off x="838200" y="85729"/>
            <a:ext cx="10515600" cy="97793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s-ES"/>
              <a:t>Detección temprana de sobrecarga o fatiga</a:t>
            </a:r>
            <a:endParaRPr/>
          </a:p>
        </p:txBody>
      </p:sp>
      <p:pic>
        <p:nvPicPr>
          <p:cNvPr descr="Gráfico, Gráfico de barras" id="121" name="Google Shape;121;p4"/>
          <p:cNvPicPr preferRelativeResize="0"/>
          <p:nvPr>
            <p:ph idx="1" type="body"/>
          </p:nvPr>
        </p:nvPicPr>
        <p:blipFill rotWithShape="1">
          <a:blip r:embed="rId3">
            <a:alphaModFix/>
          </a:blip>
          <a:srcRect b="0" l="0" r="0" t="0"/>
          <a:stretch/>
        </p:blipFill>
        <p:spPr>
          <a:xfrm>
            <a:off x="594416" y="1409653"/>
            <a:ext cx="4369008" cy="2401480"/>
          </a:xfrm>
          <a:prstGeom prst="rect">
            <a:avLst/>
          </a:prstGeom>
          <a:noFill/>
          <a:ln>
            <a:noFill/>
          </a:ln>
        </p:spPr>
      </p:pic>
      <p:pic>
        <p:nvPicPr>
          <p:cNvPr descr="Tabla" id="122" name="Google Shape;122;p4"/>
          <p:cNvPicPr preferRelativeResize="0"/>
          <p:nvPr/>
        </p:nvPicPr>
        <p:blipFill rotWithShape="1">
          <a:blip r:embed="rId4">
            <a:alphaModFix/>
          </a:blip>
          <a:srcRect b="0" l="0" r="0" t="0"/>
          <a:stretch/>
        </p:blipFill>
        <p:spPr>
          <a:xfrm>
            <a:off x="594416" y="4159880"/>
            <a:ext cx="4369008" cy="2333116"/>
          </a:xfrm>
          <a:prstGeom prst="rect">
            <a:avLst/>
          </a:prstGeom>
          <a:noFill/>
          <a:ln>
            <a:noFill/>
          </a:ln>
        </p:spPr>
      </p:pic>
      <p:cxnSp>
        <p:nvCxnSpPr>
          <p:cNvPr id="123" name="Google Shape;123;p4"/>
          <p:cNvCxnSpPr/>
          <p:nvPr/>
        </p:nvCxnSpPr>
        <p:spPr>
          <a:xfrm>
            <a:off x="1131216" y="1807982"/>
            <a:ext cx="1159497" cy="0"/>
          </a:xfrm>
          <a:prstGeom prst="straightConnector1">
            <a:avLst/>
          </a:prstGeom>
          <a:noFill/>
          <a:ln cap="flat" cmpd="sng" w="19050">
            <a:solidFill>
              <a:schemeClr val="accent6"/>
            </a:solidFill>
            <a:prstDash val="solid"/>
            <a:miter lim="800000"/>
            <a:headEnd len="sm" w="sm" type="none"/>
            <a:tailEnd len="sm" w="sm" type="none"/>
          </a:ln>
        </p:spPr>
      </p:cxnSp>
      <p:cxnSp>
        <p:nvCxnSpPr>
          <p:cNvPr id="124" name="Google Shape;124;p4"/>
          <p:cNvCxnSpPr/>
          <p:nvPr/>
        </p:nvCxnSpPr>
        <p:spPr>
          <a:xfrm>
            <a:off x="2300140" y="1807982"/>
            <a:ext cx="0" cy="1329180"/>
          </a:xfrm>
          <a:prstGeom prst="straightConnector1">
            <a:avLst/>
          </a:prstGeom>
          <a:noFill/>
          <a:ln cap="flat" cmpd="sng" w="19050">
            <a:solidFill>
              <a:schemeClr val="accent6"/>
            </a:solidFill>
            <a:prstDash val="solid"/>
            <a:miter lim="800000"/>
            <a:headEnd len="sm" w="sm" type="none"/>
            <a:tailEnd len="sm" w="sm" type="none"/>
          </a:ln>
        </p:spPr>
      </p:cxnSp>
      <p:cxnSp>
        <p:nvCxnSpPr>
          <p:cNvPr id="125" name="Google Shape;125;p4"/>
          <p:cNvCxnSpPr/>
          <p:nvPr/>
        </p:nvCxnSpPr>
        <p:spPr>
          <a:xfrm flipH="1">
            <a:off x="1687398" y="3137162"/>
            <a:ext cx="603315" cy="433633"/>
          </a:xfrm>
          <a:prstGeom prst="straightConnector1">
            <a:avLst/>
          </a:prstGeom>
          <a:noFill/>
          <a:ln cap="flat" cmpd="sng" w="19050">
            <a:solidFill>
              <a:schemeClr val="accent6"/>
            </a:solidFill>
            <a:prstDash val="solid"/>
            <a:miter lim="800000"/>
            <a:headEnd len="sm" w="sm" type="none"/>
            <a:tailEnd len="sm" w="sm" type="none"/>
          </a:ln>
        </p:spPr>
      </p:cxnSp>
      <p:cxnSp>
        <p:nvCxnSpPr>
          <p:cNvPr id="126" name="Google Shape;126;p4"/>
          <p:cNvCxnSpPr/>
          <p:nvPr/>
        </p:nvCxnSpPr>
        <p:spPr>
          <a:xfrm rot="10800000">
            <a:off x="744718" y="3570794"/>
            <a:ext cx="942681" cy="0"/>
          </a:xfrm>
          <a:prstGeom prst="straightConnector1">
            <a:avLst/>
          </a:prstGeom>
          <a:noFill/>
          <a:ln cap="flat" cmpd="sng" w="19050">
            <a:solidFill>
              <a:schemeClr val="accent6"/>
            </a:solidFill>
            <a:prstDash val="solid"/>
            <a:miter lim="800000"/>
            <a:headEnd len="sm" w="sm" type="none"/>
            <a:tailEnd len="sm" w="sm" type="none"/>
          </a:ln>
        </p:spPr>
      </p:cxnSp>
      <p:cxnSp>
        <p:nvCxnSpPr>
          <p:cNvPr id="127" name="Google Shape;127;p4"/>
          <p:cNvCxnSpPr/>
          <p:nvPr/>
        </p:nvCxnSpPr>
        <p:spPr>
          <a:xfrm rot="10800000">
            <a:off x="735291" y="3238500"/>
            <a:ext cx="0" cy="332295"/>
          </a:xfrm>
          <a:prstGeom prst="straightConnector1">
            <a:avLst/>
          </a:prstGeom>
          <a:noFill/>
          <a:ln cap="flat" cmpd="sng" w="19050">
            <a:solidFill>
              <a:schemeClr val="accent6"/>
            </a:solidFill>
            <a:prstDash val="solid"/>
            <a:miter lim="800000"/>
            <a:headEnd len="sm" w="sm" type="none"/>
            <a:tailEnd len="sm" w="sm" type="none"/>
          </a:ln>
        </p:spPr>
      </p:cxnSp>
      <p:cxnSp>
        <p:nvCxnSpPr>
          <p:cNvPr id="128" name="Google Shape;128;p4"/>
          <p:cNvCxnSpPr/>
          <p:nvPr/>
        </p:nvCxnSpPr>
        <p:spPr>
          <a:xfrm>
            <a:off x="744718" y="3238500"/>
            <a:ext cx="386498" cy="0"/>
          </a:xfrm>
          <a:prstGeom prst="straightConnector1">
            <a:avLst/>
          </a:prstGeom>
          <a:noFill/>
          <a:ln cap="flat" cmpd="sng" w="19050">
            <a:solidFill>
              <a:schemeClr val="accent6"/>
            </a:solidFill>
            <a:prstDash val="solid"/>
            <a:miter lim="800000"/>
            <a:headEnd len="sm" w="sm" type="none"/>
            <a:tailEnd len="sm" w="sm" type="none"/>
          </a:ln>
        </p:spPr>
      </p:cxnSp>
      <p:cxnSp>
        <p:nvCxnSpPr>
          <p:cNvPr id="129" name="Google Shape;129;p4"/>
          <p:cNvCxnSpPr/>
          <p:nvPr/>
        </p:nvCxnSpPr>
        <p:spPr>
          <a:xfrm rot="10800000">
            <a:off x="1131216" y="1807982"/>
            <a:ext cx="0" cy="1430518"/>
          </a:xfrm>
          <a:prstGeom prst="straightConnector1">
            <a:avLst/>
          </a:prstGeom>
          <a:noFill/>
          <a:ln cap="flat" cmpd="sng" w="19050">
            <a:solidFill>
              <a:schemeClr val="accent6"/>
            </a:solidFill>
            <a:prstDash val="solid"/>
            <a:miter lim="800000"/>
            <a:headEnd len="sm" w="sm" type="none"/>
            <a:tailEnd len="sm" w="sm" type="none"/>
          </a:ln>
        </p:spPr>
      </p:cxnSp>
      <p:sp>
        <p:nvSpPr>
          <p:cNvPr id="130" name="Google Shape;130;p4"/>
          <p:cNvSpPr/>
          <p:nvPr/>
        </p:nvSpPr>
        <p:spPr>
          <a:xfrm>
            <a:off x="5759777" y="1572311"/>
            <a:ext cx="6221691" cy="1998483"/>
          </a:xfrm>
          <a:prstGeom prst="roundRect">
            <a:avLst>
              <a:gd fmla="val 16667" name="adj"/>
            </a:avLst>
          </a:prstGeom>
          <a:solidFill>
            <a:schemeClr val="accent3">
              <a:alpha val="7843"/>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s-ES" sz="1800" u="none" cap="none" strike="noStrike">
                <a:solidFill>
                  <a:schemeClr val="dk1"/>
                </a:solidFill>
                <a:latin typeface="Arial"/>
                <a:ea typeface="Arial"/>
                <a:cs typeface="Arial"/>
                <a:sym typeface="Arial"/>
              </a:rPr>
              <a:t>Correlación Directa</a:t>
            </a:r>
            <a:endParaRPr/>
          </a:p>
          <a:p>
            <a:pPr indent="0" lvl="0" marL="0" marR="0" rtl="0" algn="ctr">
              <a:spcBef>
                <a:spcPts val="0"/>
              </a:spcBef>
              <a:spcAft>
                <a:spcPts val="0"/>
              </a:spcAft>
              <a:buNone/>
            </a:pPr>
            <a:r>
              <a:rPr b="0" i="0" lang="es-ES" sz="1800" u="none" cap="none" strike="noStrike">
                <a:solidFill>
                  <a:schemeClr val="dk1"/>
                </a:solidFill>
                <a:latin typeface="Arial"/>
                <a:ea typeface="Arial"/>
                <a:cs typeface="Arial"/>
                <a:sym typeface="Arial"/>
              </a:rPr>
              <a:t> Los departamentos con mejor calidad de sueño son sistemáticamente los que reportan mayor estado de ánimo, mayor capacidad de concentración y más energía diaria.</a:t>
            </a:r>
            <a:endParaRPr/>
          </a:p>
        </p:txBody>
      </p:sp>
      <p:sp>
        <p:nvSpPr>
          <p:cNvPr id="131" name="Google Shape;131;p4"/>
          <p:cNvSpPr/>
          <p:nvPr/>
        </p:nvSpPr>
        <p:spPr>
          <a:xfrm>
            <a:off x="5770773" y="4365194"/>
            <a:ext cx="6221691" cy="1998483"/>
          </a:xfrm>
          <a:prstGeom prst="roundRect">
            <a:avLst>
              <a:gd fmla="val 16667" name="adj"/>
            </a:avLst>
          </a:prstGeom>
          <a:solidFill>
            <a:schemeClr val="accent3">
              <a:alpha val="7843"/>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s-ES" sz="1800" u="none" cap="none" strike="noStrike">
                <a:solidFill>
                  <a:schemeClr val="dk1"/>
                </a:solidFill>
                <a:latin typeface="Arial"/>
                <a:ea typeface="Arial"/>
                <a:cs typeface="Arial"/>
                <a:sym typeface="Arial"/>
              </a:rPr>
              <a:t>El Valor</a:t>
            </a:r>
            <a:endParaRPr/>
          </a:p>
          <a:p>
            <a:pPr indent="0" lvl="0" marL="0" marR="0" rtl="0" algn="ctr">
              <a:spcBef>
                <a:spcPts val="0"/>
              </a:spcBef>
              <a:spcAft>
                <a:spcPts val="0"/>
              </a:spcAft>
              <a:buNone/>
            </a:pPr>
            <a:r>
              <a:rPr b="0" i="0" lang="es-ES" sz="1800" u="none" cap="none" strike="noStrike">
                <a:solidFill>
                  <a:schemeClr val="dk1"/>
                </a:solidFill>
                <a:latin typeface="Arial"/>
                <a:ea typeface="Arial"/>
                <a:cs typeface="Arial"/>
                <a:sym typeface="Arial"/>
              </a:rPr>
              <a:t> Esto demuestra que las acciones de bienestar no son un gasto, sino una inversión directa en la capacidad cognitiva del equipo.</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5"/>
          <p:cNvSpPr txBox="1"/>
          <p:nvPr>
            <p:ph type="title"/>
          </p:nvPr>
        </p:nvSpPr>
        <p:spPr>
          <a:xfrm>
            <a:off x="838200" y="85729"/>
            <a:ext cx="10515600" cy="97793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s-ES"/>
              <a:t>Detección temprana de sobrecarga o fatiga</a:t>
            </a:r>
            <a:endParaRPr/>
          </a:p>
        </p:txBody>
      </p:sp>
      <p:pic>
        <p:nvPicPr>
          <p:cNvPr descr="Gráfico, Gráfico de barras" id="137" name="Google Shape;137;p5"/>
          <p:cNvPicPr preferRelativeResize="0"/>
          <p:nvPr>
            <p:ph idx="1" type="body"/>
          </p:nvPr>
        </p:nvPicPr>
        <p:blipFill rotWithShape="1">
          <a:blip r:embed="rId3">
            <a:alphaModFix/>
          </a:blip>
          <a:srcRect b="0" l="0" r="0" t="0"/>
          <a:stretch/>
        </p:blipFill>
        <p:spPr>
          <a:xfrm>
            <a:off x="594416" y="1285827"/>
            <a:ext cx="4369008" cy="2664029"/>
          </a:xfrm>
          <a:prstGeom prst="rect">
            <a:avLst/>
          </a:prstGeom>
          <a:noFill/>
          <a:ln>
            <a:noFill/>
          </a:ln>
        </p:spPr>
      </p:pic>
      <p:cxnSp>
        <p:nvCxnSpPr>
          <p:cNvPr id="138" name="Google Shape;138;p5"/>
          <p:cNvCxnSpPr>
            <a:stCxn id="137" idx="3"/>
            <a:endCxn id="139" idx="1"/>
          </p:cNvCxnSpPr>
          <p:nvPr/>
        </p:nvCxnSpPr>
        <p:spPr>
          <a:xfrm flipH="1" rot="10800000">
            <a:off x="4963424" y="2381742"/>
            <a:ext cx="1463400" cy="236100"/>
          </a:xfrm>
          <a:prstGeom prst="bentConnector3">
            <a:avLst>
              <a:gd fmla="val 50000" name="adj1"/>
            </a:avLst>
          </a:prstGeom>
          <a:noFill/>
          <a:ln cap="flat" cmpd="sng" w="19050">
            <a:solidFill>
              <a:schemeClr val="accent1"/>
            </a:solidFill>
            <a:prstDash val="solid"/>
            <a:miter lim="800000"/>
            <a:headEnd len="sm" w="sm" type="none"/>
            <a:tailEnd len="med" w="med" type="triangle"/>
          </a:ln>
        </p:spPr>
      </p:cxnSp>
      <p:pic>
        <p:nvPicPr>
          <p:cNvPr descr="Gráfico, Gráfico de barras" id="140" name="Google Shape;140;p5"/>
          <p:cNvPicPr preferRelativeResize="0"/>
          <p:nvPr/>
        </p:nvPicPr>
        <p:blipFill rotWithShape="1">
          <a:blip r:embed="rId4">
            <a:alphaModFix/>
          </a:blip>
          <a:srcRect b="0" l="0" r="0" t="0"/>
          <a:stretch/>
        </p:blipFill>
        <p:spPr>
          <a:xfrm>
            <a:off x="6391100" y="3847534"/>
            <a:ext cx="3895725" cy="2409825"/>
          </a:xfrm>
          <a:prstGeom prst="rect">
            <a:avLst/>
          </a:prstGeom>
          <a:noFill/>
          <a:ln>
            <a:noFill/>
          </a:ln>
        </p:spPr>
      </p:pic>
      <p:pic>
        <p:nvPicPr>
          <p:cNvPr descr="Gráfico, Gráfico de barras" id="139" name="Google Shape;139;p5"/>
          <p:cNvPicPr preferRelativeResize="0"/>
          <p:nvPr/>
        </p:nvPicPr>
        <p:blipFill rotWithShape="1">
          <a:blip r:embed="rId5">
            <a:alphaModFix/>
          </a:blip>
          <a:srcRect b="0" l="0" r="0" t="0"/>
          <a:stretch/>
        </p:blipFill>
        <p:spPr>
          <a:xfrm>
            <a:off x="6426902" y="1181666"/>
            <a:ext cx="3914775" cy="2400300"/>
          </a:xfrm>
          <a:prstGeom prst="rect">
            <a:avLst/>
          </a:prstGeom>
          <a:noFill/>
          <a:ln>
            <a:noFill/>
          </a:ln>
        </p:spPr>
      </p:pic>
      <p:sp>
        <p:nvSpPr>
          <p:cNvPr id="141" name="Google Shape;141;p5"/>
          <p:cNvSpPr/>
          <p:nvPr/>
        </p:nvSpPr>
        <p:spPr>
          <a:xfrm>
            <a:off x="10445081" y="1185294"/>
            <a:ext cx="1701011" cy="1808152"/>
          </a:xfrm>
          <a:prstGeom prst="roundRect">
            <a:avLst>
              <a:gd fmla="val 16667" name="adj"/>
            </a:avLst>
          </a:prstGeom>
          <a:solidFill>
            <a:schemeClr val="accent3">
              <a:alpha val="7843"/>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s-ES" sz="1800" u="none" cap="none" strike="noStrike">
                <a:solidFill>
                  <a:schemeClr val="dk1"/>
                </a:solidFill>
                <a:latin typeface="Arial"/>
                <a:ea typeface="Arial"/>
                <a:cs typeface="Arial"/>
                <a:sym typeface="Arial"/>
              </a:rPr>
              <a:t>Lo mismo gráfico con filtro apenas para </a:t>
            </a:r>
            <a:r>
              <a:rPr b="1" i="0" lang="es-ES" sz="1800" u="none" cap="none" strike="noStrike">
                <a:solidFill>
                  <a:schemeClr val="dk1"/>
                </a:solidFill>
                <a:latin typeface="Arial"/>
                <a:ea typeface="Arial"/>
                <a:cs typeface="Arial"/>
                <a:sym typeface="Arial"/>
              </a:rPr>
              <a:t>Género Mujer</a:t>
            </a:r>
            <a:endParaRPr/>
          </a:p>
        </p:txBody>
      </p:sp>
      <p:sp>
        <p:nvSpPr>
          <p:cNvPr id="142" name="Google Shape;142;p5"/>
          <p:cNvSpPr/>
          <p:nvPr/>
        </p:nvSpPr>
        <p:spPr>
          <a:xfrm>
            <a:off x="10439804" y="3860593"/>
            <a:ext cx="1701011" cy="1808152"/>
          </a:xfrm>
          <a:prstGeom prst="roundRect">
            <a:avLst>
              <a:gd fmla="val 16667" name="adj"/>
            </a:avLst>
          </a:prstGeom>
          <a:solidFill>
            <a:schemeClr val="accent3">
              <a:alpha val="7843"/>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s-ES" sz="1800" u="none" cap="none" strike="noStrike">
                <a:solidFill>
                  <a:schemeClr val="dk1"/>
                </a:solidFill>
                <a:latin typeface="Arial"/>
                <a:ea typeface="Arial"/>
                <a:cs typeface="Arial"/>
                <a:sym typeface="Arial"/>
              </a:rPr>
              <a:t>Lo mismo gráfico con filtro apenas para </a:t>
            </a:r>
            <a:r>
              <a:rPr b="1" i="0" lang="es-ES" sz="1800" u="none" cap="none" strike="noStrike">
                <a:solidFill>
                  <a:schemeClr val="dk1"/>
                </a:solidFill>
                <a:latin typeface="Arial"/>
                <a:ea typeface="Arial"/>
                <a:cs typeface="Arial"/>
                <a:sym typeface="Arial"/>
              </a:rPr>
              <a:t>Género Hombre</a:t>
            </a:r>
            <a:endParaRPr/>
          </a:p>
        </p:txBody>
      </p:sp>
      <p:cxnSp>
        <p:nvCxnSpPr>
          <p:cNvPr id="143" name="Google Shape;143;p5"/>
          <p:cNvCxnSpPr>
            <a:stCxn id="137" idx="2"/>
            <a:endCxn id="140" idx="1"/>
          </p:cNvCxnSpPr>
          <p:nvPr/>
        </p:nvCxnSpPr>
        <p:spPr>
          <a:xfrm flipH="1" rot="-5400000">
            <a:off x="4033820" y="2694956"/>
            <a:ext cx="1102500" cy="3612300"/>
          </a:xfrm>
          <a:prstGeom prst="bentConnector2">
            <a:avLst/>
          </a:prstGeom>
          <a:noFill/>
          <a:ln cap="flat" cmpd="sng" w="19050">
            <a:solidFill>
              <a:schemeClr val="accent1"/>
            </a:solidFill>
            <a:prstDash val="solid"/>
            <a:miter lim="800000"/>
            <a:headEnd len="sm" w="sm" type="none"/>
            <a:tailEnd len="med" w="med" type="triangle"/>
          </a:ln>
        </p:spPr>
      </p:cxnSp>
      <p:cxnSp>
        <p:nvCxnSpPr>
          <p:cNvPr id="144" name="Google Shape;144;p5"/>
          <p:cNvCxnSpPr/>
          <p:nvPr/>
        </p:nvCxnSpPr>
        <p:spPr>
          <a:xfrm>
            <a:off x="9569513" y="1849453"/>
            <a:ext cx="651849" cy="0"/>
          </a:xfrm>
          <a:prstGeom prst="straightConnector1">
            <a:avLst/>
          </a:prstGeom>
          <a:noFill/>
          <a:ln cap="flat" cmpd="sng" w="19050">
            <a:solidFill>
              <a:srgbClr val="FF0000"/>
            </a:solidFill>
            <a:prstDash val="solid"/>
            <a:miter lim="800000"/>
            <a:headEnd len="sm" w="sm" type="none"/>
            <a:tailEnd len="sm" w="sm" type="none"/>
          </a:ln>
        </p:spPr>
      </p:cxnSp>
      <p:cxnSp>
        <p:nvCxnSpPr>
          <p:cNvPr id="145" name="Google Shape;145;p5"/>
          <p:cNvCxnSpPr/>
          <p:nvPr/>
        </p:nvCxnSpPr>
        <p:spPr>
          <a:xfrm>
            <a:off x="10221362" y="1849453"/>
            <a:ext cx="0" cy="1430448"/>
          </a:xfrm>
          <a:prstGeom prst="straightConnector1">
            <a:avLst/>
          </a:prstGeom>
          <a:noFill/>
          <a:ln cap="flat" cmpd="sng" w="19050">
            <a:solidFill>
              <a:srgbClr val="FF0000"/>
            </a:solidFill>
            <a:prstDash val="solid"/>
            <a:miter lim="800000"/>
            <a:headEnd len="sm" w="sm" type="none"/>
            <a:tailEnd len="sm" w="sm" type="none"/>
          </a:ln>
        </p:spPr>
      </p:cxnSp>
      <p:cxnSp>
        <p:nvCxnSpPr>
          <p:cNvPr id="146" name="Google Shape;146;p5"/>
          <p:cNvCxnSpPr/>
          <p:nvPr/>
        </p:nvCxnSpPr>
        <p:spPr>
          <a:xfrm rot="10800000">
            <a:off x="9334123" y="3279901"/>
            <a:ext cx="887239" cy="0"/>
          </a:xfrm>
          <a:prstGeom prst="straightConnector1">
            <a:avLst/>
          </a:prstGeom>
          <a:noFill/>
          <a:ln cap="flat" cmpd="sng" w="19050">
            <a:solidFill>
              <a:srgbClr val="FF0000"/>
            </a:solidFill>
            <a:prstDash val="solid"/>
            <a:miter lim="800000"/>
            <a:headEnd len="sm" w="sm" type="none"/>
            <a:tailEnd len="sm" w="sm" type="none"/>
          </a:ln>
        </p:spPr>
      </p:cxnSp>
      <p:cxnSp>
        <p:nvCxnSpPr>
          <p:cNvPr id="147" name="Google Shape;147;p5"/>
          <p:cNvCxnSpPr/>
          <p:nvPr/>
        </p:nvCxnSpPr>
        <p:spPr>
          <a:xfrm rot="10800000">
            <a:off x="9334123" y="3114675"/>
            <a:ext cx="0" cy="165226"/>
          </a:xfrm>
          <a:prstGeom prst="straightConnector1">
            <a:avLst/>
          </a:prstGeom>
          <a:noFill/>
          <a:ln cap="flat" cmpd="sng" w="19050">
            <a:solidFill>
              <a:srgbClr val="FF0000"/>
            </a:solidFill>
            <a:prstDash val="solid"/>
            <a:miter lim="800000"/>
            <a:headEnd len="sm" w="sm" type="none"/>
            <a:tailEnd len="sm" w="sm" type="none"/>
          </a:ln>
        </p:spPr>
      </p:cxnSp>
      <p:cxnSp>
        <p:nvCxnSpPr>
          <p:cNvPr id="148" name="Google Shape;148;p5"/>
          <p:cNvCxnSpPr/>
          <p:nvPr/>
        </p:nvCxnSpPr>
        <p:spPr>
          <a:xfrm flipH="1" rot="10800000">
            <a:off x="9334123" y="2908300"/>
            <a:ext cx="235390" cy="206375"/>
          </a:xfrm>
          <a:prstGeom prst="straightConnector1">
            <a:avLst/>
          </a:prstGeom>
          <a:noFill/>
          <a:ln cap="flat" cmpd="sng" w="19050">
            <a:solidFill>
              <a:srgbClr val="FF0000"/>
            </a:solidFill>
            <a:prstDash val="solid"/>
            <a:miter lim="800000"/>
            <a:headEnd len="sm" w="sm" type="none"/>
            <a:tailEnd len="sm" w="sm" type="none"/>
          </a:ln>
        </p:spPr>
      </p:cxnSp>
      <p:cxnSp>
        <p:nvCxnSpPr>
          <p:cNvPr id="149" name="Google Shape;149;p5"/>
          <p:cNvCxnSpPr/>
          <p:nvPr/>
        </p:nvCxnSpPr>
        <p:spPr>
          <a:xfrm rot="10800000">
            <a:off x="9569513" y="1849453"/>
            <a:ext cx="0" cy="1058847"/>
          </a:xfrm>
          <a:prstGeom prst="straightConnector1">
            <a:avLst/>
          </a:prstGeom>
          <a:noFill/>
          <a:ln cap="flat" cmpd="sng" w="19050">
            <a:solidFill>
              <a:srgbClr val="FF0000"/>
            </a:solidFill>
            <a:prstDash val="solid"/>
            <a:miter lim="800000"/>
            <a:headEnd len="sm" w="sm" type="none"/>
            <a:tailEnd len="sm" w="sm" type="none"/>
          </a:ln>
        </p:spPr>
      </p:cxnSp>
      <p:cxnSp>
        <p:nvCxnSpPr>
          <p:cNvPr id="150" name="Google Shape;150;p5"/>
          <p:cNvCxnSpPr/>
          <p:nvPr/>
        </p:nvCxnSpPr>
        <p:spPr>
          <a:xfrm>
            <a:off x="7540625" y="4279900"/>
            <a:ext cx="327025" cy="0"/>
          </a:xfrm>
          <a:prstGeom prst="straightConnector1">
            <a:avLst/>
          </a:prstGeom>
          <a:noFill/>
          <a:ln cap="flat" cmpd="sng" w="19050">
            <a:solidFill>
              <a:srgbClr val="FF0000"/>
            </a:solidFill>
            <a:prstDash val="solid"/>
            <a:miter lim="800000"/>
            <a:headEnd len="sm" w="sm" type="none"/>
            <a:tailEnd len="sm" w="sm" type="none"/>
          </a:ln>
        </p:spPr>
      </p:cxnSp>
      <p:cxnSp>
        <p:nvCxnSpPr>
          <p:cNvPr id="151" name="Google Shape;151;p5"/>
          <p:cNvCxnSpPr/>
          <p:nvPr/>
        </p:nvCxnSpPr>
        <p:spPr>
          <a:xfrm>
            <a:off x="7870825" y="4279900"/>
            <a:ext cx="0" cy="1343025"/>
          </a:xfrm>
          <a:prstGeom prst="straightConnector1">
            <a:avLst/>
          </a:prstGeom>
          <a:noFill/>
          <a:ln cap="flat" cmpd="sng" w="19050">
            <a:solidFill>
              <a:srgbClr val="FF0000"/>
            </a:solidFill>
            <a:prstDash val="solid"/>
            <a:miter lim="800000"/>
            <a:headEnd len="sm" w="sm" type="none"/>
            <a:tailEnd len="sm" w="sm" type="none"/>
          </a:ln>
        </p:spPr>
      </p:cxnSp>
      <p:cxnSp>
        <p:nvCxnSpPr>
          <p:cNvPr id="152" name="Google Shape;152;p5"/>
          <p:cNvCxnSpPr/>
          <p:nvPr/>
        </p:nvCxnSpPr>
        <p:spPr>
          <a:xfrm flipH="1">
            <a:off x="7378700" y="5622925"/>
            <a:ext cx="488950" cy="311150"/>
          </a:xfrm>
          <a:prstGeom prst="straightConnector1">
            <a:avLst/>
          </a:prstGeom>
          <a:noFill/>
          <a:ln cap="flat" cmpd="sng" w="19050">
            <a:solidFill>
              <a:srgbClr val="FF0000"/>
            </a:solidFill>
            <a:prstDash val="solid"/>
            <a:miter lim="800000"/>
            <a:headEnd len="sm" w="sm" type="none"/>
            <a:tailEnd len="sm" w="sm" type="none"/>
          </a:ln>
        </p:spPr>
      </p:cxnSp>
      <p:cxnSp>
        <p:nvCxnSpPr>
          <p:cNvPr id="153" name="Google Shape;153;p5"/>
          <p:cNvCxnSpPr/>
          <p:nvPr/>
        </p:nvCxnSpPr>
        <p:spPr>
          <a:xfrm rot="10800000">
            <a:off x="7273925" y="5787742"/>
            <a:ext cx="104775" cy="149508"/>
          </a:xfrm>
          <a:prstGeom prst="straightConnector1">
            <a:avLst/>
          </a:prstGeom>
          <a:noFill/>
          <a:ln cap="flat" cmpd="sng" w="19050">
            <a:solidFill>
              <a:srgbClr val="FF0000"/>
            </a:solidFill>
            <a:prstDash val="solid"/>
            <a:miter lim="800000"/>
            <a:headEnd len="sm" w="sm" type="none"/>
            <a:tailEnd len="sm" w="sm" type="none"/>
          </a:ln>
        </p:spPr>
      </p:cxnSp>
      <p:cxnSp>
        <p:nvCxnSpPr>
          <p:cNvPr id="154" name="Google Shape;154;p5"/>
          <p:cNvCxnSpPr/>
          <p:nvPr/>
        </p:nvCxnSpPr>
        <p:spPr>
          <a:xfrm>
            <a:off x="7540625" y="4279900"/>
            <a:ext cx="0" cy="1320800"/>
          </a:xfrm>
          <a:prstGeom prst="straightConnector1">
            <a:avLst/>
          </a:prstGeom>
          <a:noFill/>
          <a:ln cap="flat" cmpd="sng" w="19050">
            <a:solidFill>
              <a:srgbClr val="FF0000"/>
            </a:solidFill>
            <a:prstDash val="solid"/>
            <a:miter lim="800000"/>
            <a:headEnd len="sm" w="sm" type="none"/>
            <a:tailEnd len="sm" w="sm" type="none"/>
          </a:ln>
        </p:spPr>
      </p:cxnSp>
      <p:cxnSp>
        <p:nvCxnSpPr>
          <p:cNvPr id="155" name="Google Shape;155;p5"/>
          <p:cNvCxnSpPr/>
          <p:nvPr/>
        </p:nvCxnSpPr>
        <p:spPr>
          <a:xfrm flipH="1" rot="10800000">
            <a:off x="7273925" y="5600700"/>
            <a:ext cx="266700" cy="180975"/>
          </a:xfrm>
          <a:prstGeom prst="straightConnector1">
            <a:avLst/>
          </a:prstGeom>
          <a:noFill/>
          <a:ln cap="flat" cmpd="sng" w="19050">
            <a:solidFill>
              <a:srgbClr val="FF0000"/>
            </a:solidFill>
            <a:prstDash val="solid"/>
            <a:miter lim="800000"/>
            <a:headEnd len="sm" w="sm" type="none"/>
            <a:tailEnd len="sm" w="sm" type="none"/>
          </a:ln>
        </p:spPr>
      </p:cxnSp>
      <p:cxnSp>
        <p:nvCxnSpPr>
          <p:cNvPr id="156" name="Google Shape;156;p5"/>
          <p:cNvCxnSpPr/>
          <p:nvPr/>
        </p:nvCxnSpPr>
        <p:spPr>
          <a:xfrm>
            <a:off x="6883400" y="4283075"/>
            <a:ext cx="327025" cy="0"/>
          </a:xfrm>
          <a:prstGeom prst="straightConnector1">
            <a:avLst/>
          </a:prstGeom>
          <a:noFill/>
          <a:ln cap="flat" cmpd="sng" w="19050">
            <a:solidFill>
              <a:srgbClr val="FF0000"/>
            </a:solidFill>
            <a:prstDash val="solid"/>
            <a:miter lim="800000"/>
            <a:headEnd len="sm" w="sm" type="none"/>
            <a:tailEnd len="sm" w="sm" type="none"/>
          </a:ln>
        </p:spPr>
      </p:cxnSp>
      <p:cxnSp>
        <p:nvCxnSpPr>
          <p:cNvPr id="157" name="Google Shape;157;p5"/>
          <p:cNvCxnSpPr/>
          <p:nvPr/>
        </p:nvCxnSpPr>
        <p:spPr>
          <a:xfrm>
            <a:off x="7213600" y="4283075"/>
            <a:ext cx="0" cy="1343025"/>
          </a:xfrm>
          <a:prstGeom prst="straightConnector1">
            <a:avLst/>
          </a:prstGeom>
          <a:noFill/>
          <a:ln cap="flat" cmpd="sng" w="19050">
            <a:solidFill>
              <a:srgbClr val="FF0000"/>
            </a:solidFill>
            <a:prstDash val="solid"/>
            <a:miter lim="800000"/>
            <a:headEnd len="sm" w="sm" type="none"/>
            <a:tailEnd len="sm" w="sm" type="none"/>
          </a:ln>
        </p:spPr>
      </p:cxnSp>
      <p:cxnSp>
        <p:nvCxnSpPr>
          <p:cNvPr id="158" name="Google Shape;158;p5"/>
          <p:cNvCxnSpPr/>
          <p:nvPr/>
        </p:nvCxnSpPr>
        <p:spPr>
          <a:xfrm flipH="1">
            <a:off x="6721475" y="5626100"/>
            <a:ext cx="488950" cy="311150"/>
          </a:xfrm>
          <a:prstGeom prst="straightConnector1">
            <a:avLst/>
          </a:prstGeom>
          <a:noFill/>
          <a:ln cap="flat" cmpd="sng" w="19050">
            <a:solidFill>
              <a:srgbClr val="FF0000"/>
            </a:solidFill>
            <a:prstDash val="solid"/>
            <a:miter lim="800000"/>
            <a:headEnd len="sm" w="sm" type="none"/>
            <a:tailEnd len="sm" w="sm" type="none"/>
          </a:ln>
        </p:spPr>
      </p:cxnSp>
      <p:cxnSp>
        <p:nvCxnSpPr>
          <p:cNvPr id="159" name="Google Shape;159;p5"/>
          <p:cNvCxnSpPr/>
          <p:nvPr/>
        </p:nvCxnSpPr>
        <p:spPr>
          <a:xfrm rot="10800000">
            <a:off x="6616700" y="5790917"/>
            <a:ext cx="104775" cy="149508"/>
          </a:xfrm>
          <a:prstGeom prst="straightConnector1">
            <a:avLst/>
          </a:prstGeom>
          <a:noFill/>
          <a:ln cap="flat" cmpd="sng" w="19050">
            <a:solidFill>
              <a:srgbClr val="FF0000"/>
            </a:solidFill>
            <a:prstDash val="solid"/>
            <a:miter lim="800000"/>
            <a:headEnd len="sm" w="sm" type="none"/>
            <a:tailEnd len="sm" w="sm" type="none"/>
          </a:ln>
        </p:spPr>
      </p:cxnSp>
      <p:cxnSp>
        <p:nvCxnSpPr>
          <p:cNvPr id="160" name="Google Shape;160;p5"/>
          <p:cNvCxnSpPr/>
          <p:nvPr/>
        </p:nvCxnSpPr>
        <p:spPr>
          <a:xfrm>
            <a:off x="6883400" y="4283075"/>
            <a:ext cx="0" cy="1320800"/>
          </a:xfrm>
          <a:prstGeom prst="straightConnector1">
            <a:avLst/>
          </a:prstGeom>
          <a:noFill/>
          <a:ln cap="flat" cmpd="sng" w="19050">
            <a:solidFill>
              <a:srgbClr val="FF0000"/>
            </a:solidFill>
            <a:prstDash val="solid"/>
            <a:miter lim="800000"/>
            <a:headEnd len="sm" w="sm" type="none"/>
            <a:tailEnd len="sm" w="sm" type="none"/>
          </a:ln>
        </p:spPr>
      </p:cxnSp>
      <p:cxnSp>
        <p:nvCxnSpPr>
          <p:cNvPr id="161" name="Google Shape;161;p5"/>
          <p:cNvCxnSpPr/>
          <p:nvPr/>
        </p:nvCxnSpPr>
        <p:spPr>
          <a:xfrm flipH="1" rot="10800000">
            <a:off x="6616700" y="5603875"/>
            <a:ext cx="266700" cy="180975"/>
          </a:xfrm>
          <a:prstGeom prst="straightConnector1">
            <a:avLst/>
          </a:prstGeom>
          <a:noFill/>
          <a:ln cap="flat" cmpd="sng" w="19050">
            <a:solidFill>
              <a:srgbClr val="FF0000"/>
            </a:solidFill>
            <a:prstDash val="solid"/>
            <a:miter lim="800000"/>
            <a:headEnd len="sm" w="sm" type="none"/>
            <a:tailEnd len="sm" w="sm"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6"/>
          <p:cNvSpPr txBox="1"/>
          <p:nvPr>
            <p:ph type="title"/>
          </p:nvPr>
        </p:nvSpPr>
        <p:spPr>
          <a:xfrm>
            <a:off x="838200" y="85729"/>
            <a:ext cx="10515600" cy="97793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s-ES"/>
              <a:t>Detección temprana de sobrecarga o fatiga</a:t>
            </a:r>
            <a:endParaRPr/>
          </a:p>
        </p:txBody>
      </p:sp>
      <p:sp>
        <p:nvSpPr>
          <p:cNvPr id="167" name="Google Shape;167;p6"/>
          <p:cNvSpPr/>
          <p:nvPr/>
        </p:nvSpPr>
        <p:spPr>
          <a:xfrm>
            <a:off x="256374" y="1916756"/>
            <a:ext cx="5734228" cy="1392965"/>
          </a:xfrm>
          <a:prstGeom prst="roundRect">
            <a:avLst>
              <a:gd fmla="val 16667" name="adj"/>
            </a:avLst>
          </a:prstGeom>
          <a:solidFill>
            <a:srgbClr val="8CD872">
              <a:alpha val="15686"/>
            </a:srgb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b="0" i="0" lang="es-ES" sz="1600" u="none" cap="none" strike="noStrike">
                <a:solidFill>
                  <a:schemeClr val="dk1"/>
                </a:solidFill>
                <a:latin typeface="Arial"/>
                <a:ea typeface="Arial"/>
                <a:cs typeface="Arial"/>
                <a:sym typeface="Arial"/>
              </a:rPr>
              <a:t>¿Existe una carga de trabajo desproporcionada (gestión de hogar, tareas fuera de horario) que esté afectando específicamente la capacidad de desconexión de las mujeres en estos departamentos?</a:t>
            </a:r>
            <a:endParaRPr b="0" i="0" sz="1800" u="none" cap="none" strike="noStrike">
              <a:solidFill>
                <a:schemeClr val="lt1"/>
              </a:solidFill>
              <a:latin typeface="Arial"/>
              <a:ea typeface="Arial"/>
              <a:cs typeface="Arial"/>
              <a:sym typeface="Arial"/>
            </a:endParaRPr>
          </a:p>
        </p:txBody>
      </p:sp>
      <p:sp>
        <p:nvSpPr>
          <p:cNvPr id="168" name="Google Shape;168;p6"/>
          <p:cNvSpPr/>
          <p:nvPr/>
        </p:nvSpPr>
        <p:spPr>
          <a:xfrm>
            <a:off x="6004489" y="2855370"/>
            <a:ext cx="5734228" cy="1392965"/>
          </a:xfrm>
          <a:prstGeom prst="roundRect">
            <a:avLst>
              <a:gd fmla="val 16667" name="adj"/>
            </a:avLst>
          </a:prstGeom>
          <a:solidFill>
            <a:srgbClr val="8CD872">
              <a:alpha val="15686"/>
            </a:srgb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b="0" i="0" lang="es-ES" sz="1600" u="none" cap="none" strike="noStrike">
                <a:solidFill>
                  <a:schemeClr val="dk1"/>
                </a:solidFill>
                <a:latin typeface="Arial"/>
                <a:ea typeface="Arial"/>
                <a:cs typeface="Arial"/>
                <a:sym typeface="Arial"/>
              </a:rPr>
              <a:t>¿Los indicadores de Calidad de Sueño y Carga Laboral, al cruzarse, revelan una brecha de equidad en la compensación o una distribución desigual de tareas de alta presión?</a:t>
            </a:r>
            <a:endParaRPr/>
          </a:p>
        </p:txBody>
      </p:sp>
      <p:sp>
        <p:nvSpPr>
          <p:cNvPr id="169" name="Google Shape;169;p6"/>
          <p:cNvSpPr/>
          <p:nvPr/>
        </p:nvSpPr>
        <p:spPr>
          <a:xfrm>
            <a:off x="263495" y="3829590"/>
            <a:ext cx="5734228" cy="1392965"/>
          </a:xfrm>
          <a:prstGeom prst="roundRect">
            <a:avLst>
              <a:gd fmla="val 16667" name="adj"/>
            </a:avLst>
          </a:prstGeom>
          <a:solidFill>
            <a:srgbClr val="8CD872">
              <a:alpha val="15686"/>
            </a:srgb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b="0" i="0" lang="es-ES" sz="1600" u="none" cap="none" strike="noStrike">
                <a:solidFill>
                  <a:schemeClr val="dk1"/>
                </a:solidFill>
                <a:latin typeface="Arial"/>
                <a:ea typeface="Arial"/>
                <a:cs typeface="Arial"/>
                <a:sym typeface="Arial"/>
              </a:rPr>
              <a:t>¿Las mujeres de RRHH y Finanzas están percibiendo un menor apoyo de sus superiores o del equipo, lo cual incrementa su nivel de estrés y reduce su descanso?</a:t>
            </a:r>
            <a:endParaRPr/>
          </a:p>
        </p:txBody>
      </p:sp>
      <p:sp>
        <p:nvSpPr>
          <p:cNvPr id="170" name="Google Shape;170;p6"/>
          <p:cNvSpPr/>
          <p:nvPr/>
        </p:nvSpPr>
        <p:spPr>
          <a:xfrm>
            <a:off x="6011610" y="4768204"/>
            <a:ext cx="5734228" cy="1392965"/>
          </a:xfrm>
          <a:prstGeom prst="roundRect">
            <a:avLst>
              <a:gd fmla="val 16667" name="adj"/>
            </a:avLst>
          </a:prstGeom>
          <a:solidFill>
            <a:srgbClr val="8CD872">
              <a:alpha val="15686"/>
            </a:srgb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s-ES" sz="1600" u="none" cap="none" strike="noStrike">
                <a:solidFill>
                  <a:schemeClr val="dk1"/>
                </a:solidFill>
                <a:latin typeface="Arial"/>
                <a:ea typeface="Arial"/>
                <a:cs typeface="Arial"/>
                <a:sym typeface="Arial"/>
              </a:rPr>
              <a:t>¿Esta disparidad en el bienestar se correlaciona con la percepción de menores Oportunidades de Aprendizaje y Crecimiento en estos grupos?</a:t>
            </a:r>
            <a:endParaRPr/>
          </a:p>
        </p:txBody>
      </p:sp>
      <p:sp>
        <p:nvSpPr>
          <p:cNvPr id="171" name="Google Shape;171;p6"/>
          <p:cNvSpPr txBox="1"/>
          <p:nvPr/>
        </p:nvSpPr>
        <p:spPr>
          <a:xfrm>
            <a:off x="838200" y="834630"/>
            <a:ext cx="10515600" cy="977932"/>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2400"/>
              <a:buFont typeface="Play"/>
              <a:buNone/>
            </a:pPr>
            <a:r>
              <a:rPr b="1" lang="es-ES" sz="2400" u="none">
                <a:solidFill>
                  <a:schemeClr val="dk1"/>
                </a:solidFill>
                <a:latin typeface="Play"/>
                <a:ea typeface="Play"/>
                <a:cs typeface="Play"/>
                <a:sym typeface="Play"/>
              </a:rPr>
              <a:t>Preguntas Clave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7"/>
          <p:cNvSpPr txBox="1"/>
          <p:nvPr>
            <p:ph type="title"/>
          </p:nvPr>
        </p:nvSpPr>
        <p:spPr>
          <a:xfrm>
            <a:off x="838200" y="85729"/>
            <a:ext cx="10515600" cy="97793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s-ES"/>
              <a:t>Análisis del Equilibrio Vida-Trabajo</a:t>
            </a:r>
            <a:endParaRPr/>
          </a:p>
        </p:txBody>
      </p:sp>
      <p:sp>
        <p:nvSpPr>
          <p:cNvPr id="177" name="Google Shape;177;p7"/>
          <p:cNvSpPr/>
          <p:nvPr/>
        </p:nvSpPr>
        <p:spPr>
          <a:xfrm>
            <a:off x="5759777" y="1572311"/>
            <a:ext cx="6221691" cy="1998483"/>
          </a:xfrm>
          <a:prstGeom prst="roundRect">
            <a:avLst>
              <a:gd fmla="val 16667" name="adj"/>
            </a:avLst>
          </a:prstGeom>
          <a:solidFill>
            <a:schemeClr val="accent3">
              <a:alpha val="7843"/>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1800">
                <a:solidFill>
                  <a:schemeClr val="dk1"/>
                </a:solidFill>
                <a:latin typeface="Arial"/>
                <a:ea typeface="Arial"/>
                <a:cs typeface="Arial"/>
                <a:sym typeface="Arial"/>
              </a:rPr>
              <a:t>Correlación Directa</a:t>
            </a:r>
            <a:endParaRPr/>
          </a:p>
          <a:p>
            <a:pPr indent="0" lvl="0" marL="0" marR="0" rtl="0" algn="ctr">
              <a:spcBef>
                <a:spcPts val="0"/>
              </a:spcBef>
              <a:spcAft>
                <a:spcPts val="0"/>
              </a:spcAft>
              <a:buNone/>
            </a:pPr>
            <a:r>
              <a:rPr lang="es-ES" sz="1800">
                <a:solidFill>
                  <a:schemeClr val="dk1"/>
                </a:solidFill>
                <a:latin typeface="Arial"/>
                <a:ea typeface="Arial"/>
                <a:cs typeface="Arial"/>
                <a:sym typeface="Arial"/>
              </a:rPr>
              <a:t> Analizamos cómo las diferentes modalidades de trabajo impactan en la sostenibilidad del empleado. El modelo Híbrido se destaca como la opción más exitosa para fomentar el equilibrio.</a:t>
            </a:r>
            <a:endParaRPr/>
          </a:p>
        </p:txBody>
      </p:sp>
      <p:pic>
        <p:nvPicPr>
          <p:cNvPr descr="Gráfico, Gráfico de barras" id="178" name="Google Shape;178;p7"/>
          <p:cNvPicPr preferRelativeResize="0"/>
          <p:nvPr/>
        </p:nvPicPr>
        <p:blipFill rotWithShape="1">
          <a:blip r:embed="rId3">
            <a:alphaModFix/>
          </a:blip>
          <a:srcRect b="0" l="0" r="0" t="0"/>
          <a:stretch/>
        </p:blipFill>
        <p:spPr>
          <a:xfrm>
            <a:off x="199536" y="2562131"/>
            <a:ext cx="5357349" cy="2325600"/>
          </a:xfrm>
          <a:prstGeom prst="rect">
            <a:avLst/>
          </a:prstGeom>
          <a:noFill/>
          <a:ln>
            <a:noFill/>
          </a:ln>
        </p:spPr>
      </p:pic>
      <p:sp>
        <p:nvSpPr>
          <p:cNvPr id="179" name="Google Shape;179;p7"/>
          <p:cNvSpPr/>
          <p:nvPr/>
        </p:nvSpPr>
        <p:spPr>
          <a:xfrm>
            <a:off x="5770773" y="4365194"/>
            <a:ext cx="6221691" cy="1998483"/>
          </a:xfrm>
          <a:prstGeom prst="roundRect">
            <a:avLst>
              <a:gd fmla="val 16667" name="adj"/>
            </a:avLst>
          </a:prstGeom>
          <a:solidFill>
            <a:schemeClr val="accent3">
              <a:alpha val="7843"/>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1800">
                <a:solidFill>
                  <a:schemeClr val="dk1"/>
                </a:solidFill>
                <a:latin typeface="Arial"/>
                <a:ea typeface="Arial"/>
                <a:cs typeface="Arial"/>
                <a:sym typeface="Arial"/>
              </a:rPr>
              <a:t>El Valor</a:t>
            </a:r>
            <a:endParaRPr/>
          </a:p>
          <a:p>
            <a:pPr indent="0" lvl="0" marL="0" marR="0" rtl="0" algn="ctr">
              <a:spcBef>
                <a:spcPts val="0"/>
              </a:spcBef>
              <a:spcAft>
                <a:spcPts val="0"/>
              </a:spcAft>
              <a:buNone/>
            </a:pPr>
            <a:r>
              <a:rPr lang="es-ES" sz="1800">
                <a:solidFill>
                  <a:schemeClr val="dk1"/>
                </a:solidFill>
                <a:latin typeface="Arial"/>
                <a:ea typeface="Arial"/>
                <a:cs typeface="Arial"/>
                <a:sym typeface="Arial"/>
              </a:rPr>
              <a:t> La modalidad Híbrida logra la mejor gestión del balance vida-trabajo, demostrando que </a:t>
            </a:r>
            <a:r>
              <a:rPr b="1" lang="es-ES" sz="1800">
                <a:solidFill>
                  <a:schemeClr val="dk1"/>
                </a:solidFill>
                <a:latin typeface="Arial"/>
                <a:ea typeface="Arial"/>
                <a:cs typeface="Arial"/>
                <a:sym typeface="Arial"/>
              </a:rPr>
              <a:t>la flexibilidad medida funciona</a:t>
            </a:r>
            <a:r>
              <a:rPr lang="es-ES" sz="1800">
                <a:solidFill>
                  <a:schemeClr val="dk1"/>
                </a:solidFill>
                <a:latin typeface="Arial"/>
                <a:ea typeface="Arial"/>
                <a:cs typeface="Arial"/>
                <a:sym typeface="Arial"/>
              </a:rPr>
              <a:t>.</a:t>
            </a:r>
            <a:endParaRPr/>
          </a:p>
        </p:txBody>
      </p:sp>
      <p:cxnSp>
        <p:nvCxnSpPr>
          <p:cNvPr id="180" name="Google Shape;180;p7"/>
          <p:cNvCxnSpPr/>
          <p:nvPr/>
        </p:nvCxnSpPr>
        <p:spPr>
          <a:xfrm>
            <a:off x="660903" y="2851842"/>
            <a:ext cx="0" cy="2100404"/>
          </a:xfrm>
          <a:prstGeom prst="straightConnector1">
            <a:avLst/>
          </a:prstGeom>
          <a:noFill/>
          <a:ln cap="flat" cmpd="sng" w="28575">
            <a:solidFill>
              <a:schemeClr val="accent6"/>
            </a:solidFill>
            <a:prstDash val="solid"/>
            <a:miter lim="800000"/>
            <a:headEnd len="sm" w="sm" type="none"/>
            <a:tailEnd len="sm" w="sm" type="none"/>
          </a:ln>
        </p:spPr>
      </p:cxnSp>
      <p:cxnSp>
        <p:nvCxnSpPr>
          <p:cNvPr id="181" name="Google Shape;181;p7"/>
          <p:cNvCxnSpPr/>
          <p:nvPr/>
        </p:nvCxnSpPr>
        <p:spPr>
          <a:xfrm>
            <a:off x="660903" y="4952246"/>
            <a:ext cx="1439501" cy="0"/>
          </a:xfrm>
          <a:prstGeom prst="straightConnector1">
            <a:avLst/>
          </a:prstGeom>
          <a:noFill/>
          <a:ln cap="flat" cmpd="sng" w="28575">
            <a:solidFill>
              <a:schemeClr val="accent6"/>
            </a:solidFill>
            <a:prstDash val="solid"/>
            <a:miter lim="800000"/>
            <a:headEnd len="sm" w="sm" type="none"/>
            <a:tailEnd len="sm" w="sm" type="none"/>
          </a:ln>
        </p:spPr>
      </p:cxnSp>
      <p:cxnSp>
        <p:nvCxnSpPr>
          <p:cNvPr id="182" name="Google Shape;182;p7"/>
          <p:cNvCxnSpPr/>
          <p:nvPr/>
        </p:nvCxnSpPr>
        <p:spPr>
          <a:xfrm rot="10800000">
            <a:off x="2109457" y="2851842"/>
            <a:ext cx="0" cy="2100404"/>
          </a:xfrm>
          <a:prstGeom prst="straightConnector1">
            <a:avLst/>
          </a:prstGeom>
          <a:noFill/>
          <a:ln cap="flat" cmpd="sng" w="28575">
            <a:solidFill>
              <a:schemeClr val="accent6"/>
            </a:solidFill>
            <a:prstDash val="solid"/>
            <a:miter lim="800000"/>
            <a:headEnd len="sm" w="sm" type="none"/>
            <a:tailEnd len="sm" w="sm" type="none"/>
          </a:ln>
        </p:spPr>
      </p:cxnSp>
      <p:cxnSp>
        <p:nvCxnSpPr>
          <p:cNvPr id="183" name="Google Shape;183;p7"/>
          <p:cNvCxnSpPr/>
          <p:nvPr/>
        </p:nvCxnSpPr>
        <p:spPr>
          <a:xfrm>
            <a:off x="660903" y="2851842"/>
            <a:ext cx="1439501" cy="0"/>
          </a:xfrm>
          <a:prstGeom prst="straightConnector1">
            <a:avLst/>
          </a:prstGeom>
          <a:noFill/>
          <a:ln cap="flat" cmpd="sng" w="28575">
            <a:solidFill>
              <a:schemeClr val="accent6"/>
            </a:solidFill>
            <a:prstDash val="solid"/>
            <a:miter lim="800000"/>
            <a:headEnd len="sm" w="sm" type="none"/>
            <a:tailEnd len="sm" w="sm" type="none"/>
          </a:ln>
        </p:spPr>
      </p:cxnSp>
      <p:cxnSp>
        <p:nvCxnSpPr>
          <p:cNvPr id="184" name="Google Shape;184;p7"/>
          <p:cNvCxnSpPr/>
          <p:nvPr/>
        </p:nvCxnSpPr>
        <p:spPr>
          <a:xfrm>
            <a:off x="3637979" y="3206750"/>
            <a:ext cx="0" cy="1743990"/>
          </a:xfrm>
          <a:prstGeom prst="straightConnector1">
            <a:avLst/>
          </a:prstGeom>
          <a:noFill/>
          <a:ln cap="flat" cmpd="sng" w="28575">
            <a:solidFill>
              <a:srgbClr val="FF0000"/>
            </a:solidFill>
            <a:prstDash val="solid"/>
            <a:miter lim="800000"/>
            <a:headEnd len="sm" w="sm" type="none"/>
            <a:tailEnd len="sm" w="sm" type="none"/>
          </a:ln>
        </p:spPr>
      </p:cxnSp>
      <p:cxnSp>
        <p:nvCxnSpPr>
          <p:cNvPr id="185" name="Google Shape;185;p7"/>
          <p:cNvCxnSpPr/>
          <p:nvPr/>
        </p:nvCxnSpPr>
        <p:spPr>
          <a:xfrm>
            <a:off x="3637979" y="4950740"/>
            <a:ext cx="1439501" cy="0"/>
          </a:xfrm>
          <a:prstGeom prst="straightConnector1">
            <a:avLst/>
          </a:prstGeom>
          <a:noFill/>
          <a:ln cap="flat" cmpd="sng" w="28575">
            <a:solidFill>
              <a:srgbClr val="FF0000"/>
            </a:solidFill>
            <a:prstDash val="solid"/>
            <a:miter lim="800000"/>
            <a:headEnd len="sm" w="sm" type="none"/>
            <a:tailEnd len="sm" w="sm" type="none"/>
          </a:ln>
        </p:spPr>
      </p:cxnSp>
      <p:cxnSp>
        <p:nvCxnSpPr>
          <p:cNvPr id="186" name="Google Shape;186;p7"/>
          <p:cNvCxnSpPr/>
          <p:nvPr/>
        </p:nvCxnSpPr>
        <p:spPr>
          <a:xfrm rot="10800000">
            <a:off x="5086533" y="3195873"/>
            <a:ext cx="0" cy="1754867"/>
          </a:xfrm>
          <a:prstGeom prst="straightConnector1">
            <a:avLst/>
          </a:prstGeom>
          <a:noFill/>
          <a:ln cap="flat" cmpd="sng" w="28575">
            <a:solidFill>
              <a:srgbClr val="FF0000"/>
            </a:solidFill>
            <a:prstDash val="solid"/>
            <a:miter lim="800000"/>
            <a:headEnd len="sm" w="sm" type="none"/>
            <a:tailEnd len="sm" w="sm" type="none"/>
          </a:ln>
        </p:spPr>
      </p:cxnSp>
      <p:cxnSp>
        <p:nvCxnSpPr>
          <p:cNvPr id="187" name="Google Shape;187;p7"/>
          <p:cNvCxnSpPr/>
          <p:nvPr/>
        </p:nvCxnSpPr>
        <p:spPr>
          <a:xfrm>
            <a:off x="3635375" y="3209925"/>
            <a:ext cx="1457325" cy="0"/>
          </a:xfrm>
          <a:prstGeom prst="straightConnector1">
            <a:avLst/>
          </a:prstGeom>
          <a:noFill/>
          <a:ln cap="flat" cmpd="sng" w="28575">
            <a:solidFill>
              <a:srgbClr val="FF0000"/>
            </a:solidFill>
            <a:prstDash val="solid"/>
            <a:miter lim="800000"/>
            <a:headEnd len="sm" w="sm" type="none"/>
            <a:tailEnd len="sm" w="sm"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8"/>
          <p:cNvSpPr txBox="1"/>
          <p:nvPr>
            <p:ph type="title"/>
          </p:nvPr>
        </p:nvSpPr>
        <p:spPr>
          <a:xfrm>
            <a:off x="838200" y="85729"/>
            <a:ext cx="10515600" cy="97793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s-ES"/>
              <a:t>Análisis del Equilibrio Vida-Trabajo</a:t>
            </a:r>
            <a:endParaRPr/>
          </a:p>
        </p:txBody>
      </p:sp>
      <p:sp>
        <p:nvSpPr>
          <p:cNvPr id="193" name="Google Shape;193;p8"/>
          <p:cNvSpPr/>
          <p:nvPr/>
        </p:nvSpPr>
        <p:spPr>
          <a:xfrm>
            <a:off x="256374" y="1916756"/>
            <a:ext cx="5734228" cy="1392965"/>
          </a:xfrm>
          <a:prstGeom prst="roundRect">
            <a:avLst>
              <a:gd fmla="val 16667" name="adj"/>
            </a:avLst>
          </a:prstGeom>
          <a:solidFill>
            <a:srgbClr val="8CD872">
              <a:alpha val="15686"/>
            </a:srgb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lang="es-ES" sz="1600">
                <a:solidFill>
                  <a:schemeClr val="dk1"/>
                </a:solidFill>
                <a:latin typeface="Arial"/>
                <a:ea typeface="Arial"/>
                <a:cs typeface="Arial"/>
                <a:sym typeface="Arial"/>
              </a:rPr>
              <a:t>¿La modalidad Presencial quita demasiada autonomía y control sobre el horario de trabajo, haciendo que el equilibrio personal/laboral sea difícil de manejar?</a:t>
            </a:r>
            <a:endParaRPr/>
          </a:p>
        </p:txBody>
      </p:sp>
      <p:sp>
        <p:nvSpPr>
          <p:cNvPr id="194" name="Google Shape;194;p8"/>
          <p:cNvSpPr/>
          <p:nvPr/>
        </p:nvSpPr>
        <p:spPr>
          <a:xfrm>
            <a:off x="6004489" y="2855370"/>
            <a:ext cx="5734228" cy="1392965"/>
          </a:xfrm>
          <a:prstGeom prst="roundRect">
            <a:avLst>
              <a:gd fmla="val 16667" name="adj"/>
            </a:avLst>
          </a:prstGeom>
          <a:solidFill>
            <a:srgbClr val="8CD872">
              <a:alpha val="15686"/>
            </a:srgb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lang="es-ES" sz="1600">
                <a:solidFill>
                  <a:schemeClr val="dk1"/>
                </a:solidFill>
                <a:latin typeface="Arial"/>
                <a:ea typeface="Arial"/>
                <a:cs typeface="Arial"/>
                <a:sym typeface="Arial"/>
              </a:rPr>
              <a:t>¿El tiempo de ir y volver de la oficina, sumado a un horario fijo, deja a los empleados Presenciales sin tiempo suficiente para atender sus asuntos personales o familiares?</a:t>
            </a:r>
            <a:endParaRPr/>
          </a:p>
        </p:txBody>
      </p:sp>
      <p:sp>
        <p:nvSpPr>
          <p:cNvPr id="195" name="Google Shape;195;p8"/>
          <p:cNvSpPr/>
          <p:nvPr/>
        </p:nvSpPr>
        <p:spPr>
          <a:xfrm>
            <a:off x="263495" y="3829590"/>
            <a:ext cx="5734228" cy="1392965"/>
          </a:xfrm>
          <a:prstGeom prst="roundRect">
            <a:avLst>
              <a:gd fmla="val 16667" name="adj"/>
            </a:avLst>
          </a:prstGeom>
          <a:solidFill>
            <a:srgbClr val="8CD872">
              <a:alpha val="15686"/>
            </a:srgb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lang="es-ES" sz="1600">
                <a:solidFill>
                  <a:schemeClr val="dk1"/>
                </a:solidFill>
                <a:latin typeface="Arial"/>
                <a:ea typeface="Arial"/>
                <a:cs typeface="Arial"/>
                <a:sym typeface="Arial"/>
              </a:rPr>
              <a:t>¿La forma en que se gestiona y supervisa a las personas en la oficina (Presencial) es más pesada o agobiante que en la modalidad Híbrida?</a:t>
            </a:r>
            <a:endParaRPr/>
          </a:p>
        </p:txBody>
      </p:sp>
      <p:sp>
        <p:nvSpPr>
          <p:cNvPr id="196" name="Google Shape;196;p8"/>
          <p:cNvSpPr/>
          <p:nvPr/>
        </p:nvSpPr>
        <p:spPr>
          <a:xfrm>
            <a:off x="6011610" y="4768204"/>
            <a:ext cx="5734228" cy="1392965"/>
          </a:xfrm>
          <a:prstGeom prst="roundRect">
            <a:avLst>
              <a:gd fmla="val 16667" name="adj"/>
            </a:avLst>
          </a:prstGeom>
          <a:solidFill>
            <a:srgbClr val="8CD872">
              <a:alpha val="15686"/>
            </a:srgb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lang="es-ES" sz="1600">
                <a:solidFill>
                  <a:schemeClr val="dk1"/>
                </a:solidFill>
                <a:latin typeface="Arial"/>
                <a:ea typeface="Arial"/>
                <a:cs typeface="Arial"/>
                <a:sym typeface="Arial"/>
              </a:rPr>
              <a:t>¿Sienten los empleados que el día que pasan en la oficina (Presencial) es realmente productivo y que justifica el esfuerzo, o están haciendo tareas individuales que podrían hacer mejor en casa?</a:t>
            </a:r>
            <a:endParaRPr/>
          </a:p>
        </p:txBody>
      </p:sp>
      <p:sp>
        <p:nvSpPr>
          <p:cNvPr id="197" name="Google Shape;197;p8"/>
          <p:cNvSpPr txBox="1"/>
          <p:nvPr/>
        </p:nvSpPr>
        <p:spPr>
          <a:xfrm>
            <a:off x="838200" y="834630"/>
            <a:ext cx="10515600" cy="977932"/>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2400"/>
              <a:buFont typeface="Play"/>
              <a:buNone/>
            </a:pPr>
            <a:r>
              <a:rPr b="1" lang="es-ES" sz="2400">
                <a:solidFill>
                  <a:schemeClr val="dk1"/>
                </a:solidFill>
                <a:latin typeface="Play"/>
                <a:ea typeface="Play"/>
                <a:cs typeface="Play"/>
                <a:sym typeface="Play"/>
              </a:rPr>
              <a:t>Preguntas Clave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9"/>
          <p:cNvSpPr txBox="1"/>
          <p:nvPr>
            <p:ph type="title"/>
          </p:nvPr>
        </p:nvSpPr>
        <p:spPr>
          <a:xfrm>
            <a:off x="838200" y="85729"/>
            <a:ext cx="10688782" cy="977932"/>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Play"/>
              <a:buNone/>
            </a:pPr>
            <a:r>
              <a:rPr b="1" lang="es-ES"/>
              <a:t>De la Desconexión a la Sostenibilidad Emocional</a:t>
            </a:r>
            <a:endParaRPr/>
          </a:p>
        </p:txBody>
      </p:sp>
      <p:sp>
        <p:nvSpPr>
          <p:cNvPr id="203" name="Google Shape;203;p9"/>
          <p:cNvSpPr/>
          <p:nvPr/>
        </p:nvSpPr>
        <p:spPr>
          <a:xfrm>
            <a:off x="5759777" y="1572311"/>
            <a:ext cx="6221691" cy="1998483"/>
          </a:xfrm>
          <a:prstGeom prst="roundRect">
            <a:avLst>
              <a:gd fmla="val 16667" name="adj"/>
            </a:avLst>
          </a:prstGeom>
          <a:solidFill>
            <a:schemeClr val="accent3">
              <a:alpha val="7843"/>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1800">
                <a:solidFill>
                  <a:schemeClr val="dk1"/>
                </a:solidFill>
                <a:latin typeface="Arial"/>
                <a:ea typeface="Arial"/>
                <a:cs typeface="Arial"/>
                <a:sym typeface="Arial"/>
              </a:rPr>
              <a:t>Correlación Directa</a:t>
            </a:r>
            <a:endParaRPr/>
          </a:p>
          <a:p>
            <a:pPr indent="0" lvl="0" marL="0" marR="0" rtl="0" algn="ctr">
              <a:spcBef>
                <a:spcPts val="0"/>
              </a:spcBef>
              <a:spcAft>
                <a:spcPts val="0"/>
              </a:spcAft>
              <a:buNone/>
            </a:pPr>
            <a:r>
              <a:rPr lang="es-ES" sz="1800">
                <a:solidFill>
                  <a:schemeClr val="dk1"/>
                </a:solidFill>
                <a:latin typeface="Arial"/>
                <a:ea typeface="Arial"/>
                <a:cs typeface="Arial"/>
                <a:sym typeface="Arial"/>
              </a:rPr>
              <a:t> Para asegurar que los empleados sigan productivos y no se fatiguen, debemos proteger su capacidad para desconectar. Es el predictor más fuerte de la salud mental.</a:t>
            </a:r>
            <a:endParaRPr/>
          </a:p>
        </p:txBody>
      </p:sp>
      <p:sp>
        <p:nvSpPr>
          <p:cNvPr id="204" name="Google Shape;204;p9"/>
          <p:cNvSpPr/>
          <p:nvPr/>
        </p:nvSpPr>
        <p:spPr>
          <a:xfrm>
            <a:off x="5770773" y="4365194"/>
            <a:ext cx="6221691" cy="1998483"/>
          </a:xfrm>
          <a:prstGeom prst="roundRect">
            <a:avLst>
              <a:gd fmla="val 16667" name="adj"/>
            </a:avLst>
          </a:prstGeom>
          <a:solidFill>
            <a:schemeClr val="accent3">
              <a:alpha val="7843"/>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1800">
                <a:solidFill>
                  <a:schemeClr val="dk1"/>
                </a:solidFill>
                <a:latin typeface="Arial"/>
                <a:ea typeface="Arial"/>
                <a:cs typeface="Arial"/>
                <a:sym typeface="Arial"/>
              </a:rPr>
              <a:t>El Valor</a:t>
            </a:r>
            <a:endParaRPr/>
          </a:p>
          <a:p>
            <a:pPr indent="0" lvl="0" marL="0" marR="0" rtl="0" algn="ctr">
              <a:spcBef>
                <a:spcPts val="0"/>
              </a:spcBef>
              <a:spcAft>
                <a:spcPts val="0"/>
              </a:spcAft>
              <a:buNone/>
            </a:pPr>
            <a:r>
              <a:rPr lang="es-ES" sz="1800">
                <a:solidFill>
                  <a:schemeClr val="dk1"/>
                </a:solidFill>
                <a:latin typeface="Arial"/>
                <a:ea typeface="Arial"/>
                <a:cs typeface="Arial"/>
                <a:sym typeface="Arial"/>
              </a:rPr>
              <a:t>El modelo prueba que si la empresa logra mantener o aumentar esa media de Desconexión (actualmente en 7), </a:t>
            </a:r>
            <a:r>
              <a:rPr b="1" lang="es-ES" sz="1800">
                <a:solidFill>
                  <a:schemeClr val="dk1"/>
                </a:solidFill>
                <a:latin typeface="Arial"/>
                <a:ea typeface="Arial"/>
                <a:cs typeface="Arial"/>
                <a:sym typeface="Arial"/>
              </a:rPr>
              <a:t>la Recuperación Emocional de la plantilla se mantiene estable</a:t>
            </a:r>
            <a:r>
              <a:rPr lang="es-ES" sz="1800">
                <a:solidFill>
                  <a:schemeClr val="dk1"/>
                </a:solidFill>
                <a:latin typeface="Arial"/>
                <a:ea typeface="Arial"/>
                <a:cs typeface="Arial"/>
                <a:sym typeface="Arial"/>
              </a:rPr>
              <a:t>.</a:t>
            </a:r>
            <a:endParaRPr/>
          </a:p>
        </p:txBody>
      </p:sp>
      <p:pic>
        <p:nvPicPr>
          <p:cNvPr descr="Imagen que contiene Texto&#10;&#10;El contenido generado por IA puede ser incorrecto." id="205" name="Google Shape;205;p9"/>
          <p:cNvPicPr preferRelativeResize="0"/>
          <p:nvPr/>
        </p:nvPicPr>
        <p:blipFill rotWithShape="1">
          <a:blip r:embed="rId3">
            <a:alphaModFix/>
          </a:blip>
          <a:srcRect b="0" l="0" r="0" t="0"/>
          <a:stretch/>
        </p:blipFill>
        <p:spPr>
          <a:xfrm>
            <a:off x="327198" y="1572311"/>
            <a:ext cx="5059614" cy="866775"/>
          </a:xfrm>
          <a:prstGeom prst="rect">
            <a:avLst/>
          </a:prstGeom>
          <a:noFill/>
          <a:ln>
            <a:noFill/>
          </a:ln>
        </p:spPr>
      </p:pic>
      <p:pic>
        <p:nvPicPr>
          <p:cNvPr descr="Gráfico, Gráfico de barras&#10;&#10;El contenido generado por IA puede ser incorrecto." id="206" name="Google Shape;206;p9"/>
          <p:cNvPicPr preferRelativeResize="0"/>
          <p:nvPr/>
        </p:nvPicPr>
        <p:blipFill rotWithShape="1">
          <a:blip r:embed="rId4">
            <a:alphaModFix/>
          </a:blip>
          <a:srcRect b="0" l="0" r="0" t="0"/>
          <a:stretch/>
        </p:blipFill>
        <p:spPr>
          <a:xfrm>
            <a:off x="699593" y="2571553"/>
            <a:ext cx="3709446" cy="415163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0"/>
          <p:cNvSpPr txBox="1"/>
          <p:nvPr>
            <p:ph type="title"/>
          </p:nvPr>
        </p:nvSpPr>
        <p:spPr>
          <a:xfrm>
            <a:off x="838200" y="85729"/>
            <a:ext cx="10698018" cy="977932"/>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Play"/>
              <a:buNone/>
            </a:pPr>
            <a:r>
              <a:rPr b="1" lang="es-ES"/>
              <a:t>De la Desconexión a la Sostenibilidad Emocional</a:t>
            </a:r>
            <a:endParaRPr/>
          </a:p>
        </p:txBody>
      </p:sp>
      <p:sp>
        <p:nvSpPr>
          <p:cNvPr id="212" name="Google Shape;212;p10"/>
          <p:cNvSpPr/>
          <p:nvPr/>
        </p:nvSpPr>
        <p:spPr>
          <a:xfrm>
            <a:off x="256374" y="1916756"/>
            <a:ext cx="5734228" cy="1392965"/>
          </a:xfrm>
          <a:prstGeom prst="roundRect">
            <a:avLst>
              <a:gd fmla="val 16667" name="adj"/>
            </a:avLst>
          </a:prstGeom>
          <a:solidFill>
            <a:srgbClr val="8CD872">
              <a:alpha val="15686"/>
            </a:srgb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lang="es-ES" sz="1600">
                <a:solidFill>
                  <a:schemeClr val="dk1"/>
                </a:solidFill>
                <a:latin typeface="Arial"/>
                <a:ea typeface="Arial"/>
                <a:cs typeface="Arial"/>
                <a:sym typeface="Arial"/>
              </a:rPr>
              <a:t>¿Los líderes y jefes de equipo están dando un buen ejemplo al evitar enviar mensajes o correos electrónicos fuera del horario de trabajo?</a:t>
            </a:r>
            <a:endParaRPr/>
          </a:p>
        </p:txBody>
      </p:sp>
      <p:sp>
        <p:nvSpPr>
          <p:cNvPr id="213" name="Google Shape;213;p10"/>
          <p:cNvSpPr/>
          <p:nvPr/>
        </p:nvSpPr>
        <p:spPr>
          <a:xfrm>
            <a:off x="6004489" y="2855370"/>
            <a:ext cx="5734228" cy="1392965"/>
          </a:xfrm>
          <a:prstGeom prst="roundRect">
            <a:avLst>
              <a:gd fmla="val 16667" name="adj"/>
            </a:avLst>
          </a:prstGeom>
          <a:solidFill>
            <a:srgbClr val="8CD872">
              <a:alpha val="15686"/>
            </a:srgb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lang="es-ES" sz="1600">
                <a:solidFill>
                  <a:schemeClr val="dk1"/>
                </a:solidFill>
                <a:latin typeface="Arial"/>
                <a:ea typeface="Arial"/>
                <a:cs typeface="Arial"/>
                <a:sym typeface="Arial"/>
              </a:rPr>
              <a:t>¿La cantidad de trabajo es tan grande que la gente tiene que trabajar más horas, lo que les impide desconectar y descansar bien?</a:t>
            </a:r>
            <a:endParaRPr/>
          </a:p>
        </p:txBody>
      </p:sp>
      <p:sp>
        <p:nvSpPr>
          <p:cNvPr id="214" name="Google Shape;214;p10"/>
          <p:cNvSpPr/>
          <p:nvPr/>
        </p:nvSpPr>
        <p:spPr>
          <a:xfrm>
            <a:off x="263495" y="3829590"/>
            <a:ext cx="5734228" cy="1392965"/>
          </a:xfrm>
          <a:prstGeom prst="roundRect">
            <a:avLst>
              <a:gd fmla="val 16667" name="adj"/>
            </a:avLst>
          </a:prstGeom>
          <a:solidFill>
            <a:srgbClr val="8CD872">
              <a:alpha val="15686"/>
            </a:srgb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lang="es-ES" sz="1600">
                <a:solidFill>
                  <a:schemeClr val="dk1"/>
                </a:solidFill>
                <a:latin typeface="Arial"/>
                <a:ea typeface="Arial"/>
                <a:cs typeface="Arial"/>
                <a:sym typeface="Arial"/>
              </a:rPr>
              <a:t>¿Qué equipos o formas de trabajo (Presencial, Híbrido) están teniendo más problemas para desconectar?</a:t>
            </a:r>
            <a:endParaRPr/>
          </a:p>
        </p:txBody>
      </p:sp>
      <p:sp>
        <p:nvSpPr>
          <p:cNvPr id="215" name="Google Shape;215;p10"/>
          <p:cNvSpPr/>
          <p:nvPr/>
        </p:nvSpPr>
        <p:spPr>
          <a:xfrm>
            <a:off x="6011610" y="4768204"/>
            <a:ext cx="5734228" cy="1392965"/>
          </a:xfrm>
          <a:prstGeom prst="roundRect">
            <a:avLst>
              <a:gd fmla="val 16667" name="adj"/>
            </a:avLst>
          </a:prstGeom>
          <a:solidFill>
            <a:srgbClr val="8CD872">
              <a:alpha val="15686"/>
            </a:srgb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lang="es-ES" sz="1600">
                <a:solidFill>
                  <a:schemeClr val="dk1"/>
                </a:solidFill>
                <a:latin typeface="Arial"/>
                <a:ea typeface="Arial"/>
                <a:cs typeface="Arial"/>
                <a:sym typeface="Arial"/>
              </a:rPr>
              <a:t>Si el descanso es la clave para que la gente esté bien, ¿debemos enfocarnos en crear reglas que protejan ese tiempo, en lugar de gastar en beneficios que no resuelven el problema de fondo?</a:t>
            </a:r>
            <a:endParaRPr/>
          </a:p>
        </p:txBody>
      </p:sp>
      <p:sp>
        <p:nvSpPr>
          <p:cNvPr id="216" name="Google Shape;216;p10"/>
          <p:cNvSpPr txBox="1"/>
          <p:nvPr/>
        </p:nvSpPr>
        <p:spPr>
          <a:xfrm>
            <a:off x="838200" y="834630"/>
            <a:ext cx="10515600" cy="977932"/>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2400"/>
              <a:buFont typeface="Play"/>
              <a:buNone/>
            </a:pPr>
            <a:r>
              <a:rPr b="1" lang="es-ES" sz="2400">
                <a:solidFill>
                  <a:schemeClr val="dk1"/>
                </a:solidFill>
                <a:latin typeface="Play"/>
                <a:ea typeface="Play"/>
                <a:cs typeface="Play"/>
                <a:sym typeface="Play"/>
              </a:rPr>
              <a:t>Preguntas Clave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1"/>
          <p:cNvSpPr txBox="1"/>
          <p:nvPr>
            <p:ph type="title"/>
          </p:nvPr>
        </p:nvSpPr>
        <p:spPr>
          <a:xfrm>
            <a:off x="327198" y="85729"/>
            <a:ext cx="11654270" cy="977932"/>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Play"/>
              <a:buNone/>
            </a:pPr>
            <a:r>
              <a:rPr b="1" lang="es-ES"/>
              <a:t>El Motor de la Motivación – Productividad Duradera</a:t>
            </a:r>
            <a:endParaRPr/>
          </a:p>
        </p:txBody>
      </p:sp>
      <p:sp>
        <p:nvSpPr>
          <p:cNvPr id="222" name="Google Shape;222;p11"/>
          <p:cNvSpPr/>
          <p:nvPr/>
        </p:nvSpPr>
        <p:spPr>
          <a:xfrm>
            <a:off x="5759777" y="1572311"/>
            <a:ext cx="6221691" cy="1998483"/>
          </a:xfrm>
          <a:prstGeom prst="roundRect">
            <a:avLst>
              <a:gd fmla="val 16667" name="adj"/>
            </a:avLst>
          </a:prstGeom>
          <a:solidFill>
            <a:schemeClr val="accent3">
              <a:alpha val="7843"/>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1800">
                <a:solidFill>
                  <a:schemeClr val="dk1"/>
                </a:solidFill>
                <a:latin typeface="Arial"/>
                <a:ea typeface="Arial"/>
                <a:cs typeface="Arial"/>
                <a:sym typeface="Arial"/>
              </a:rPr>
              <a:t>Correlación Directa</a:t>
            </a:r>
            <a:endParaRPr/>
          </a:p>
          <a:p>
            <a:pPr indent="0" lvl="0" marL="0" marR="0" rtl="0" algn="ctr">
              <a:spcBef>
                <a:spcPts val="0"/>
              </a:spcBef>
              <a:spcAft>
                <a:spcPts val="0"/>
              </a:spcAft>
              <a:buNone/>
            </a:pPr>
            <a:r>
              <a:rPr lang="es-ES" sz="1800">
                <a:solidFill>
                  <a:schemeClr val="dk1"/>
                </a:solidFill>
                <a:latin typeface="Arial"/>
                <a:ea typeface="Arial"/>
                <a:cs typeface="Arial"/>
                <a:sym typeface="Arial"/>
              </a:rPr>
              <a:t> Destaque el/los departamentos con la </a:t>
            </a:r>
            <a:r>
              <a:rPr b="1" lang="es-ES" sz="1800">
                <a:solidFill>
                  <a:schemeClr val="dk1"/>
                </a:solidFill>
                <a:latin typeface="Arial"/>
                <a:ea typeface="Arial"/>
                <a:cs typeface="Arial"/>
                <a:sym typeface="Arial"/>
              </a:rPr>
              <a:t>mayor media de Sentido del Trabajo</a:t>
            </a:r>
            <a:r>
              <a:rPr lang="es-ES" sz="1800">
                <a:solidFill>
                  <a:schemeClr val="dk1"/>
                </a:solidFill>
                <a:latin typeface="Arial"/>
                <a:ea typeface="Arial"/>
                <a:cs typeface="Arial"/>
                <a:sym typeface="Arial"/>
              </a:rPr>
              <a:t>. La baja puntuación indica que el personal puede no ver cómo su trabajo diario contribuye al objetivo final de la empresa. </a:t>
            </a:r>
            <a:r>
              <a:rPr b="1" lang="es-ES" sz="1800">
                <a:solidFill>
                  <a:schemeClr val="dk1"/>
                </a:solidFill>
                <a:latin typeface="Arial"/>
                <a:ea typeface="Arial"/>
                <a:cs typeface="Arial"/>
                <a:sym typeface="Arial"/>
              </a:rPr>
              <a:t>Esto es un riesgo de rotación silenciosa.</a:t>
            </a:r>
            <a:endParaRPr sz="1800">
              <a:solidFill>
                <a:schemeClr val="dk1"/>
              </a:solidFill>
              <a:latin typeface="Arial"/>
              <a:ea typeface="Arial"/>
              <a:cs typeface="Arial"/>
              <a:sym typeface="Arial"/>
            </a:endParaRPr>
          </a:p>
        </p:txBody>
      </p:sp>
      <p:sp>
        <p:nvSpPr>
          <p:cNvPr id="223" name="Google Shape;223;p11"/>
          <p:cNvSpPr/>
          <p:nvPr/>
        </p:nvSpPr>
        <p:spPr>
          <a:xfrm>
            <a:off x="5770773" y="4365194"/>
            <a:ext cx="6221691" cy="1998483"/>
          </a:xfrm>
          <a:prstGeom prst="roundRect">
            <a:avLst>
              <a:gd fmla="val 16667" name="adj"/>
            </a:avLst>
          </a:prstGeom>
          <a:solidFill>
            <a:schemeClr val="accent3">
              <a:alpha val="7843"/>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1800">
                <a:solidFill>
                  <a:schemeClr val="dk1"/>
                </a:solidFill>
                <a:latin typeface="Arial"/>
                <a:ea typeface="Arial"/>
                <a:cs typeface="Arial"/>
                <a:sym typeface="Arial"/>
              </a:rPr>
              <a:t>El Valor</a:t>
            </a:r>
            <a:endParaRPr/>
          </a:p>
          <a:p>
            <a:pPr indent="0" lvl="0" marL="0" marR="0" rtl="0" algn="ctr">
              <a:spcBef>
                <a:spcPts val="0"/>
              </a:spcBef>
              <a:spcAft>
                <a:spcPts val="0"/>
              </a:spcAft>
              <a:buNone/>
            </a:pPr>
            <a:r>
              <a:rPr lang="es-ES" sz="1800">
                <a:solidFill>
                  <a:schemeClr val="dk1"/>
                </a:solidFill>
                <a:latin typeface="Arial"/>
                <a:ea typeface="Arial"/>
                <a:cs typeface="Arial"/>
                <a:sym typeface="Arial"/>
              </a:rPr>
              <a:t>Intervenir en Operaciones para mejorar el Sentido del Trabajo mejorará la </a:t>
            </a:r>
            <a:r>
              <a:rPr b="1" lang="es-ES" sz="1800">
                <a:solidFill>
                  <a:schemeClr val="dk1"/>
                </a:solidFill>
                <a:latin typeface="Arial"/>
                <a:ea typeface="Arial"/>
                <a:cs typeface="Arial"/>
                <a:sym typeface="Arial"/>
              </a:rPr>
              <a:t>retención</a:t>
            </a:r>
            <a:r>
              <a:rPr lang="es-ES" sz="1800">
                <a:solidFill>
                  <a:schemeClr val="dk1"/>
                </a:solidFill>
                <a:latin typeface="Arial"/>
                <a:ea typeface="Arial"/>
                <a:cs typeface="Arial"/>
                <a:sym typeface="Arial"/>
              </a:rPr>
              <a:t> y reducirá el coste de formación de nuevos empleados.</a:t>
            </a:r>
            <a:endParaRPr/>
          </a:p>
        </p:txBody>
      </p:sp>
      <p:pic>
        <p:nvPicPr>
          <p:cNvPr descr="Tabla" id="224" name="Google Shape;224;p11"/>
          <p:cNvPicPr preferRelativeResize="0"/>
          <p:nvPr/>
        </p:nvPicPr>
        <p:blipFill rotWithShape="1">
          <a:blip r:embed="rId3">
            <a:alphaModFix/>
          </a:blip>
          <a:srcRect b="0" l="0" r="0" t="0"/>
          <a:stretch/>
        </p:blipFill>
        <p:spPr>
          <a:xfrm>
            <a:off x="835746" y="1572311"/>
            <a:ext cx="3403745" cy="488198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2"/>
          <p:cNvSpPr txBox="1"/>
          <p:nvPr>
            <p:ph type="title"/>
          </p:nvPr>
        </p:nvSpPr>
        <p:spPr>
          <a:xfrm>
            <a:off x="327198" y="85729"/>
            <a:ext cx="11654270" cy="977932"/>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Play"/>
              <a:buNone/>
            </a:pPr>
            <a:r>
              <a:rPr b="1" lang="es-ES"/>
              <a:t>El Motor de la Motivación – Productividad Duradera</a:t>
            </a:r>
            <a:endParaRPr/>
          </a:p>
        </p:txBody>
      </p:sp>
      <p:pic>
        <p:nvPicPr>
          <p:cNvPr descr="Gráfico, Gráfico de embudo&#10;&#10;El contenido generado por IA puede ser incorrecto." id="230" name="Google Shape;230;p12"/>
          <p:cNvPicPr preferRelativeResize="0"/>
          <p:nvPr/>
        </p:nvPicPr>
        <p:blipFill rotWithShape="1">
          <a:blip r:embed="rId3">
            <a:alphaModFix/>
          </a:blip>
          <a:srcRect b="0" l="0" r="0" t="0"/>
          <a:stretch/>
        </p:blipFill>
        <p:spPr>
          <a:xfrm>
            <a:off x="644331" y="1063661"/>
            <a:ext cx="3173524" cy="3857130"/>
          </a:xfrm>
          <a:prstGeom prst="rect">
            <a:avLst/>
          </a:prstGeom>
          <a:noFill/>
          <a:ln>
            <a:noFill/>
          </a:ln>
        </p:spPr>
      </p:pic>
      <p:pic>
        <p:nvPicPr>
          <p:cNvPr descr="Tabla&#10;&#10;El contenido generado por IA puede ser incorrecto." id="231" name="Google Shape;231;p12"/>
          <p:cNvPicPr preferRelativeResize="0"/>
          <p:nvPr/>
        </p:nvPicPr>
        <p:blipFill rotWithShape="1">
          <a:blip r:embed="rId4">
            <a:alphaModFix/>
          </a:blip>
          <a:srcRect b="0" l="0" r="0" t="0"/>
          <a:stretch/>
        </p:blipFill>
        <p:spPr>
          <a:xfrm>
            <a:off x="8609979" y="1063661"/>
            <a:ext cx="3173524" cy="3857129"/>
          </a:xfrm>
          <a:prstGeom prst="rect">
            <a:avLst/>
          </a:prstGeom>
          <a:noFill/>
          <a:ln>
            <a:noFill/>
          </a:ln>
        </p:spPr>
      </p:pic>
      <p:sp>
        <p:nvSpPr>
          <p:cNvPr id="232" name="Google Shape;232;p12"/>
          <p:cNvSpPr/>
          <p:nvPr/>
        </p:nvSpPr>
        <p:spPr>
          <a:xfrm>
            <a:off x="9756924" y="4994646"/>
            <a:ext cx="1701011" cy="1808152"/>
          </a:xfrm>
          <a:prstGeom prst="roundRect">
            <a:avLst>
              <a:gd fmla="val 16667" name="adj"/>
            </a:avLst>
          </a:prstGeom>
          <a:solidFill>
            <a:schemeClr val="accent3">
              <a:alpha val="7843"/>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ES" sz="1800">
                <a:solidFill>
                  <a:schemeClr val="dk1"/>
                </a:solidFill>
                <a:latin typeface="Arial"/>
                <a:ea typeface="Arial"/>
                <a:cs typeface="Arial"/>
                <a:sym typeface="Arial"/>
              </a:rPr>
              <a:t>Lo mismo gráfico con filtro apenas para </a:t>
            </a:r>
            <a:r>
              <a:rPr b="1" lang="es-ES" sz="1800">
                <a:solidFill>
                  <a:schemeClr val="dk1"/>
                </a:solidFill>
                <a:latin typeface="Arial"/>
                <a:ea typeface="Arial"/>
                <a:cs typeface="Arial"/>
                <a:sym typeface="Arial"/>
              </a:rPr>
              <a:t>Genero Mujer</a:t>
            </a:r>
            <a:endParaRPr/>
          </a:p>
        </p:txBody>
      </p:sp>
      <p:sp>
        <p:nvSpPr>
          <p:cNvPr id="233" name="Google Shape;233;p12"/>
          <p:cNvSpPr/>
          <p:nvPr/>
        </p:nvSpPr>
        <p:spPr>
          <a:xfrm>
            <a:off x="1720010" y="4971396"/>
            <a:ext cx="1701011" cy="1808152"/>
          </a:xfrm>
          <a:prstGeom prst="roundRect">
            <a:avLst>
              <a:gd fmla="val 16667" name="adj"/>
            </a:avLst>
          </a:prstGeom>
          <a:solidFill>
            <a:schemeClr val="accent3">
              <a:alpha val="7843"/>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ES" sz="1800">
                <a:solidFill>
                  <a:schemeClr val="dk1"/>
                </a:solidFill>
                <a:latin typeface="Arial"/>
                <a:ea typeface="Arial"/>
                <a:cs typeface="Arial"/>
                <a:sym typeface="Arial"/>
              </a:rPr>
              <a:t>Lo mismo gráfico con filtro apenas para </a:t>
            </a:r>
            <a:r>
              <a:rPr b="1" lang="es-ES" sz="1800">
                <a:solidFill>
                  <a:schemeClr val="dk1"/>
                </a:solidFill>
                <a:latin typeface="Arial"/>
                <a:ea typeface="Arial"/>
                <a:cs typeface="Arial"/>
                <a:sym typeface="Arial"/>
              </a:rPr>
              <a:t>Genero Hombre</a:t>
            </a:r>
            <a:endParaRPr/>
          </a:p>
        </p:txBody>
      </p:sp>
      <p:cxnSp>
        <p:nvCxnSpPr>
          <p:cNvPr id="234" name="Google Shape;234;p12"/>
          <p:cNvCxnSpPr/>
          <p:nvPr/>
        </p:nvCxnSpPr>
        <p:spPr>
          <a:xfrm rot="10800000">
            <a:off x="548640" y="3848100"/>
            <a:ext cx="2987040" cy="0"/>
          </a:xfrm>
          <a:prstGeom prst="straightConnector1">
            <a:avLst/>
          </a:prstGeom>
          <a:noFill/>
          <a:ln cap="flat" cmpd="sng" w="19050">
            <a:solidFill>
              <a:srgbClr val="FF0000"/>
            </a:solidFill>
            <a:prstDash val="solid"/>
            <a:miter lim="800000"/>
            <a:headEnd len="sm" w="sm" type="none"/>
            <a:tailEnd len="sm" w="sm" type="none"/>
          </a:ln>
        </p:spPr>
      </p:cxnSp>
      <p:cxnSp>
        <p:nvCxnSpPr>
          <p:cNvPr id="235" name="Google Shape;235;p12"/>
          <p:cNvCxnSpPr/>
          <p:nvPr/>
        </p:nvCxnSpPr>
        <p:spPr>
          <a:xfrm rot="10800000">
            <a:off x="548640" y="4191000"/>
            <a:ext cx="2987040" cy="0"/>
          </a:xfrm>
          <a:prstGeom prst="straightConnector1">
            <a:avLst/>
          </a:prstGeom>
          <a:noFill/>
          <a:ln cap="flat" cmpd="sng" w="19050">
            <a:solidFill>
              <a:srgbClr val="FF0000"/>
            </a:solidFill>
            <a:prstDash val="solid"/>
            <a:miter lim="800000"/>
            <a:headEnd len="sm" w="sm" type="none"/>
            <a:tailEnd len="sm" w="sm" type="none"/>
          </a:ln>
        </p:spPr>
      </p:cxnSp>
      <p:cxnSp>
        <p:nvCxnSpPr>
          <p:cNvPr id="236" name="Google Shape;236;p12"/>
          <p:cNvCxnSpPr/>
          <p:nvPr/>
        </p:nvCxnSpPr>
        <p:spPr>
          <a:xfrm>
            <a:off x="3535680" y="3848100"/>
            <a:ext cx="0" cy="350520"/>
          </a:xfrm>
          <a:prstGeom prst="straightConnector1">
            <a:avLst/>
          </a:prstGeom>
          <a:noFill/>
          <a:ln cap="flat" cmpd="sng" w="19050">
            <a:solidFill>
              <a:srgbClr val="FF0000"/>
            </a:solidFill>
            <a:prstDash val="solid"/>
            <a:miter lim="800000"/>
            <a:headEnd len="sm" w="sm" type="none"/>
            <a:tailEnd len="sm" w="sm" type="none"/>
          </a:ln>
        </p:spPr>
      </p:cxnSp>
      <p:cxnSp>
        <p:nvCxnSpPr>
          <p:cNvPr id="237" name="Google Shape;237;p12"/>
          <p:cNvCxnSpPr/>
          <p:nvPr/>
        </p:nvCxnSpPr>
        <p:spPr>
          <a:xfrm>
            <a:off x="548640" y="3848100"/>
            <a:ext cx="0" cy="350520"/>
          </a:xfrm>
          <a:prstGeom prst="straightConnector1">
            <a:avLst/>
          </a:prstGeom>
          <a:noFill/>
          <a:ln cap="flat" cmpd="sng" w="19050">
            <a:solidFill>
              <a:srgbClr val="FF0000"/>
            </a:solidFill>
            <a:prstDash val="solid"/>
            <a:miter lim="800000"/>
            <a:headEnd len="sm" w="sm" type="none"/>
            <a:tailEnd len="sm" w="sm" type="none"/>
          </a:ln>
        </p:spPr>
      </p:cxnSp>
      <p:cxnSp>
        <p:nvCxnSpPr>
          <p:cNvPr id="238" name="Google Shape;238;p12"/>
          <p:cNvCxnSpPr/>
          <p:nvPr/>
        </p:nvCxnSpPr>
        <p:spPr>
          <a:xfrm rot="10800000">
            <a:off x="8498575" y="4548826"/>
            <a:ext cx="2987040" cy="0"/>
          </a:xfrm>
          <a:prstGeom prst="straightConnector1">
            <a:avLst/>
          </a:prstGeom>
          <a:noFill/>
          <a:ln cap="flat" cmpd="sng" w="19050">
            <a:solidFill>
              <a:srgbClr val="FF0000"/>
            </a:solidFill>
            <a:prstDash val="solid"/>
            <a:miter lim="800000"/>
            <a:headEnd len="sm" w="sm" type="none"/>
            <a:tailEnd len="sm" w="sm" type="none"/>
          </a:ln>
        </p:spPr>
      </p:cxnSp>
      <p:cxnSp>
        <p:nvCxnSpPr>
          <p:cNvPr id="239" name="Google Shape;239;p12"/>
          <p:cNvCxnSpPr/>
          <p:nvPr/>
        </p:nvCxnSpPr>
        <p:spPr>
          <a:xfrm rot="10800000">
            <a:off x="8498575" y="4891726"/>
            <a:ext cx="2987040" cy="0"/>
          </a:xfrm>
          <a:prstGeom prst="straightConnector1">
            <a:avLst/>
          </a:prstGeom>
          <a:noFill/>
          <a:ln cap="flat" cmpd="sng" w="19050">
            <a:solidFill>
              <a:srgbClr val="FF0000"/>
            </a:solidFill>
            <a:prstDash val="solid"/>
            <a:miter lim="800000"/>
            <a:headEnd len="sm" w="sm" type="none"/>
            <a:tailEnd len="sm" w="sm" type="none"/>
          </a:ln>
        </p:spPr>
      </p:cxnSp>
      <p:cxnSp>
        <p:nvCxnSpPr>
          <p:cNvPr id="240" name="Google Shape;240;p12"/>
          <p:cNvCxnSpPr/>
          <p:nvPr/>
        </p:nvCxnSpPr>
        <p:spPr>
          <a:xfrm>
            <a:off x="11485615" y="4548826"/>
            <a:ext cx="0" cy="350520"/>
          </a:xfrm>
          <a:prstGeom prst="straightConnector1">
            <a:avLst/>
          </a:prstGeom>
          <a:noFill/>
          <a:ln cap="flat" cmpd="sng" w="19050">
            <a:solidFill>
              <a:srgbClr val="FF0000"/>
            </a:solidFill>
            <a:prstDash val="solid"/>
            <a:miter lim="800000"/>
            <a:headEnd len="sm" w="sm" type="none"/>
            <a:tailEnd len="sm" w="sm" type="none"/>
          </a:ln>
        </p:spPr>
      </p:cxnSp>
      <p:cxnSp>
        <p:nvCxnSpPr>
          <p:cNvPr id="241" name="Google Shape;241;p12"/>
          <p:cNvCxnSpPr/>
          <p:nvPr/>
        </p:nvCxnSpPr>
        <p:spPr>
          <a:xfrm>
            <a:off x="8498575" y="4548826"/>
            <a:ext cx="0" cy="350520"/>
          </a:xfrm>
          <a:prstGeom prst="straightConnector1">
            <a:avLst/>
          </a:prstGeom>
          <a:noFill/>
          <a:ln cap="flat" cmpd="sng" w="19050">
            <a:solidFill>
              <a:srgbClr val="FF0000"/>
            </a:solidFill>
            <a:prstDash val="solid"/>
            <a:miter lim="800000"/>
            <a:headEnd len="sm" w="sm" type="none"/>
            <a:tailEnd len="sm" w="sm"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3"/>
          <p:cNvSpPr txBox="1"/>
          <p:nvPr>
            <p:ph type="title"/>
          </p:nvPr>
        </p:nvSpPr>
        <p:spPr>
          <a:xfrm>
            <a:off x="424205" y="85729"/>
            <a:ext cx="11406433" cy="977932"/>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Play"/>
              <a:buNone/>
            </a:pPr>
            <a:r>
              <a:rPr b="1" lang="es-ES"/>
              <a:t>El Motor de la Motivación – Productividad Duradera</a:t>
            </a:r>
            <a:endParaRPr/>
          </a:p>
        </p:txBody>
      </p:sp>
      <p:sp>
        <p:nvSpPr>
          <p:cNvPr id="247" name="Google Shape;247;p13"/>
          <p:cNvSpPr/>
          <p:nvPr/>
        </p:nvSpPr>
        <p:spPr>
          <a:xfrm>
            <a:off x="256374" y="1916756"/>
            <a:ext cx="5734228" cy="1392965"/>
          </a:xfrm>
          <a:prstGeom prst="roundRect">
            <a:avLst>
              <a:gd fmla="val 16667" name="adj"/>
            </a:avLst>
          </a:prstGeom>
          <a:solidFill>
            <a:srgbClr val="8CD872">
              <a:alpha val="15686"/>
            </a:srgb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lang="es-ES" sz="1600">
                <a:solidFill>
                  <a:schemeClr val="dk1"/>
                </a:solidFill>
                <a:latin typeface="Arial"/>
                <a:ea typeface="Arial"/>
                <a:cs typeface="Arial"/>
                <a:sym typeface="Arial"/>
              </a:rPr>
              <a:t>¿Los hombres en los equipos de Dirección y RRHH sienten que sus tareas actuales son estratégicas y que están alineadas con las prioridades reales de la empresa?</a:t>
            </a:r>
            <a:endParaRPr/>
          </a:p>
        </p:txBody>
      </p:sp>
      <p:sp>
        <p:nvSpPr>
          <p:cNvPr id="248" name="Google Shape;248;p13"/>
          <p:cNvSpPr/>
          <p:nvPr/>
        </p:nvSpPr>
        <p:spPr>
          <a:xfrm>
            <a:off x="6004489" y="2855370"/>
            <a:ext cx="5734228" cy="1392965"/>
          </a:xfrm>
          <a:prstGeom prst="roundRect">
            <a:avLst>
              <a:gd fmla="val 16667" name="adj"/>
            </a:avLst>
          </a:prstGeom>
          <a:solidFill>
            <a:srgbClr val="8CD872">
              <a:alpha val="15686"/>
            </a:srgb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lang="es-ES" sz="1600">
                <a:solidFill>
                  <a:schemeClr val="dk1"/>
                </a:solidFill>
                <a:latin typeface="Arial"/>
                <a:ea typeface="Arial"/>
                <a:cs typeface="Arial"/>
                <a:sym typeface="Arial"/>
              </a:rPr>
              <a:t>¿Podemos ayudar a la gente de Operaciones a ver de forma clara y constante cómo su trabajo diario ayuda directamente a los clientes o al éxito final de la empresa?</a:t>
            </a:r>
            <a:endParaRPr/>
          </a:p>
        </p:txBody>
      </p:sp>
      <p:sp>
        <p:nvSpPr>
          <p:cNvPr id="249" name="Google Shape;249;p13"/>
          <p:cNvSpPr/>
          <p:nvPr/>
        </p:nvSpPr>
        <p:spPr>
          <a:xfrm>
            <a:off x="263495" y="3829590"/>
            <a:ext cx="5734228" cy="1392965"/>
          </a:xfrm>
          <a:prstGeom prst="roundRect">
            <a:avLst>
              <a:gd fmla="val 16667" name="adj"/>
            </a:avLst>
          </a:prstGeom>
          <a:solidFill>
            <a:srgbClr val="8CD872">
              <a:alpha val="15686"/>
            </a:srgb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lang="es-ES" sz="1600">
                <a:solidFill>
                  <a:schemeClr val="dk1"/>
                </a:solidFill>
                <a:latin typeface="Arial"/>
                <a:ea typeface="Arial"/>
                <a:cs typeface="Arial"/>
                <a:sym typeface="Arial"/>
              </a:rPr>
              <a:t>Considerando que el Sentido del Trabajo es un problema de liderazgo en RRHH y un problema estructural en Operaciones, ¿cuáles son los planes de acción diferenciados que implementaremos en cada uno?</a:t>
            </a:r>
            <a:endParaRPr/>
          </a:p>
        </p:txBody>
      </p:sp>
      <p:sp>
        <p:nvSpPr>
          <p:cNvPr id="250" name="Google Shape;250;p13"/>
          <p:cNvSpPr/>
          <p:nvPr/>
        </p:nvSpPr>
        <p:spPr>
          <a:xfrm>
            <a:off x="6011610" y="4768204"/>
            <a:ext cx="5734228" cy="1392965"/>
          </a:xfrm>
          <a:prstGeom prst="roundRect">
            <a:avLst>
              <a:gd fmla="val 16667" name="adj"/>
            </a:avLst>
          </a:prstGeom>
          <a:solidFill>
            <a:srgbClr val="8CD872">
              <a:alpha val="15686"/>
            </a:srgb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lang="es-ES" sz="1600">
                <a:solidFill>
                  <a:schemeClr val="dk1"/>
                </a:solidFill>
                <a:latin typeface="Arial"/>
                <a:ea typeface="Arial"/>
                <a:cs typeface="Arial"/>
                <a:sym typeface="Arial"/>
              </a:rPr>
              <a:t>¿La baja motivación en Operaciones y la disparidad de género se deben a una falta de reconocimiento visible o a la ausencia de oportunidades claras de crecimiento profesional en esos equipos?</a:t>
            </a:r>
            <a:endParaRPr/>
          </a:p>
        </p:txBody>
      </p:sp>
      <p:sp>
        <p:nvSpPr>
          <p:cNvPr id="251" name="Google Shape;251;p13"/>
          <p:cNvSpPr txBox="1"/>
          <p:nvPr/>
        </p:nvSpPr>
        <p:spPr>
          <a:xfrm>
            <a:off x="838200" y="834630"/>
            <a:ext cx="10515600" cy="977932"/>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2400"/>
              <a:buFont typeface="Play"/>
              <a:buNone/>
            </a:pPr>
            <a:r>
              <a:rPr b="1" lang="es-ES" sz="2400">
                <a:solidFill>
                  <a:schemeClr val="dk1"/>
                </a:solidFill>
                <a:latin typeface="Play"/>
                <a:ea typeface="Play"/>
                <a:cs typeface="Play"/>
                <a:sym typeface="Play"/>
              </a:rPr>
              <a:t>Preguntas Clave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4"/>
          <p:cNvSpPr txBox="1"/>
          <p:nvPr>
            <p:ph type="title"/>
          </p:nvPr>
        </p:nvSpPr>
        <p:spPr>
          <a:xfrm>
            <a:off x="325926" y="365125"/>
            <a:ext cx="710697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s-ES"/>
              <a:t>El Dashboard: Su KPI en Tiempo Real</a:t>
            </a:r>
            <a:endParaRPr/>
          </a:p>
        </p:txBody>
      </p:sp>
      <p:pic>
        <p:nvPicPr>
          <p:cNvPr descr="Interfaz de usuario gráfica, Diagrama" id="257" name="Google Shape;257;p14"/>
          <p:cNvPicPr preferRelativeResize="0"/>
          <p:nvPr>
            <p:ph idx="1" type="body"/>
          </p:nvPr>
        </p:nvPicPr>
        <p:blipFill rotWithShape="1">
          <a:blip r:embed="rId3">
            <a:alphaModFix/>
          </a:blip>
          <a:srcRect b="0" l="0" r="0" t="0"/>
          <a:stretch/>
        </p:blipFill>
        <p:spPr>
          <a:xfrm>
            <a:off x="7594751" y="-1"/>
            <a:ext cx="4597250" cy="6858001"/>
          </a:xfrm>
          <a:prstGeom prst="rect">
            <a:avLst/>
          </a:prstGeom>
          <a:noFill/>
          <a:ln>
            <a:noFill/>
          </a:ln>
        </p:spPr>
      </p:pic>
      <p:sp>
        <p:nvSpPr>
          <p:cNvPr id="258" name="Google Shape;258;p14"/>
          <p:cNvSpPr txBox="1"/>
          <p:nvPr/>
        </p:nvSpPr>
        <p:spPr>
          <a:xfrm>
            <a:off x="325926" y="2308634"/>
            <a:ext cx="6753884" cy="120032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1800">
                <a:solidFill>
                  <a:schemeClr val="dk1"/>
                </a:solidFill>
                <a:latin typeface="Arial"/>
                <a:ea typeface="Arial"/>
                <a:cs typeface="Arial"/>
                <a:sym typeface="Arial"/>
              </a:rPr>
              <a:t>El Power BI ya no es un reporte, sino una herramienta de gestión continua que permite monitorear el pulso de la organización de forma proactiva.</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259" name="Google Shape;259;p14"/>
          <p:cNvCxnSpPr/>
          <p:nvPr/>
        </p:nvCxnSpPr>
        <p:spPr>
          <a:xfrm>
            <a:off x="452673" y="4327556"/>
            <a:ext cx="0" cy="760492"/>
          </a:xfrm>
          <a:prstGeom prst="straightConnector1">
            <a:avLst/>
          </a:prstGeom>
          <a:noFill/>
          <a:ln cap="flat" cmpd="sng" w="19050">
            <a:solidFill>
              <a:schemeClr val="accent1"/>
            </a:solidFill>
            <a:prstDash val="solid"/>
            <a:miter lim="800000"/>
            <a:headEnd len="sm" w="sm" type="none"/>
            <a:tailEnd len="sm" w="sm" type="none"/>
          </a:ln>
        </p:spPr>
      </p:cxnSp>
      <p:sp>
        <p:nvSpPr>
          <p:cNvPr id="260" name="Google Shape;260;p14"/>
          <p:cNvSpPr txBox="1"/>
          <p:nvPr/>
        </p:nvSpPr>
        <p:spPr>
          <a:xfrm>
            <a:off x="543208" y="4418092"/>
            <a:ext cx="5552792"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dk1"/>
                </a:solidFill>
                <a:latin typeface="Arial"/>
                <a:ea typeface="Arial"/>
                <a:cs typeface="Arial"/>
                <a:sym typeface="Arial"/>
              </a:rPr>
              <a:t>Transforma el área de RRHH en un motor de datos para la toma de decisiones ejecutivas.</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pic>
        <p:nvPicPr>
          <p:cNvPr descr="Calendario&#10;&#10;El contenido generado por IA puede ser incorrecto." id="265" name="Google Shape;265;p15"/>
          <p:cNvPicPr preferRelativeResize="0"/>
          <p:nvPr>
            <p:ph idx="1" type="body"/>
          </p:nvPr>
        </p:nvPicPr>
        <p:blipFill rotWithShape="1">
          <a:blip r:embed="rId3">
            <a:alphaModFix/>
          </a:blip>
          <a:srcRect b="0" l="0" r="0" t="0"/>
          <a:stretch/>
        </p:blipFill>
        <p:spPr>
          <a:xfrm>
            <a:off x="0" y="-2"/>
            <a:ext cx="4597200" cy="6858001"/>
          </a:xfrm>
          <a:prstGeom prst="rect">
            <a:avLst/>
          </a:prstGeom>
          <a:noFill/>
          <a:ln>
            <a:noFill/>
          </a:ln>
        </p:spPr>
      </p:pic>
      <p:sp>
        <p:nvSpPr>
          <p:cNvPr id="266" name="Google Shape;266;p15"/>
          <p:cNvSpPr/>
          <p:nvPr/>
        </p:nvSpPr>
        <p:spPr>
          <a:xfrm>
            <a:off x="5169529" y="1661452"/>
            <a:ext cx="6599976" cy="1571942"/>
          </a:xfrm>
          <a:prstGeom prst="roundRect">
            <a:avLst>
              <a:gd fmla="val 16667" name="adj"/>
            </a:avLst>
          </a:prstGeom>
          <a:solidFill>
            <a:srgbClr val="8CD872">
              <a:alpha val="15686"/>
            </a:srgb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800">
              <a:solidFill>
                <a:schemeClr val="dk1"/>
              </a:solidFill>
              <a:latin typeface="Arial"/>
              <a:ea typeface="Arial"/>
              <a:cs typeface="Arial"/>
              <a:sym typeface="Arial"/>
            </a:endParaRPr>
          </a:p>
          <a:p>
            <a:pPr indent="0" lvl="0" marL="0" marR="0" rtl="0" algn="just">
              <a:spcBef>
                <a:spcPts val="0"/>
              </a:spcBef>
              <a:spcAft>
                <a:spcPts val="0"/>
              </a:spcAft>
              <a:buNone/>
            </a:pPr>
            <a:r>
              <a:rPr b="1" lang="es-ES" sz="1600">
                <a:solidFill>
                  <a:schemeClr val="dk1"/>
                </a:solidFill>
                <a:latin typeface="Arial"/>
                <a:ea typeface="Arial"/>
                <a:cs typeface="Arial"/>
                <a:sym typeface="Arial"/>
              </a:rPr>
              <a:t>Reforzar Cultura de Límites</a:t>
            </a:r>
            <a:endParaRPr/>
          </a:p>
          <a:p>
            <a:pPr indent="0" lvl="0" marL="0" marR="0" rtl="0" algn="just">
              <a:spcBef>
                <a:spcPts val="0"/>
              </a:spcBef>
              <a:spcAft>
                <a:spcPts val="0"/>
              </a:spcAft>
              <a:buNone/>
            </a:pPr>
            <a:r>
              <a:t/>
            </a:r>
            <a:endParaRPr b="1" sz="1600">
              <a:solidFill>
                <a:schemeClr val="dk1"/>
              </a:solidFill>
              <a:latin typeface="Arial"/>
              <a:ea typeface="Arial"/>
              <a:cs typeface="Arial"/>
              <a:sym typeface="Arial"/>
            </a:endParaRPr>
          </a:p>
          <a:p>
            <a:pPr indent="0" lvl="0" marL="0" marR="0" rtl="0" algn="just">
              <a:spcBef>
                <a:spcPts val="0"/>
              </a:spcBef>
              <a:spcAft>
                <a:spcPts val="0"/>
              </a:spcAft>
              <a:buNone/>
            </a:pPr>
            <a:r>
              <a:rPr lang="es-ES" sz="1600">
                <a:solidFill>
                  <a:schemeClr val="dk1"/>
                </a:solidFill>
                <a:latin typeface="Arial"/>
                <a:ea typeface="Arial"/>
                <a:cs typeface="Arial"/>
                <a:sym typeface="Arial"/>
              </a:rPr>
              <a:t>La desconexión es el principal factor de Recuperación Emocional. El modelo Híbrido es un éxito, el Presencial es el riesgo.</a:t>
            </a:r>
            <a:endParaRPr sz="1800">
              <a:solidFill>
                <a:schemeClr val="lt1"/>
              </a:solidFill>
              <a:latin typeface="Arial"/>
              <a:ea typeface="Arial"/>
              <a:cs typeface="Arial"/>
              <a:sym typeface="Arial"/>
            </a:endParaRPr>
          </a:p>
        </p:txBody>
      </p:sp>
      <p:pic>
        <p:nvPicPr>
          <p:cNvPr descr="Forma&#10;&#10;El contenido generado por IA puede ser incorrecto." id="267" name="Google Shape;267;p15"/>
          <p:cNvPicPr preferRelativeResize="0"/>
          <p:nvPr/>
        </p:nvPicPr>
        <p:blipFill rotWithShape="1">
          <a:blip r:embed="rId4">
            <a:alphaModFix/>
          </a:blip>
          <a:srcRect b="0" l="0" r="0" t="0"/>
          <a:stretch/>
        </p:blipFill>
        <p:spPr>
          <a:xfrm>
            <a:off x="5307596" y="1716450"/>
            <a:ext cx="431299" cy="431299"/>
          </a:xfrm>
          <a:prstGeom prst="rect">
            <a:avLst/>
          </a:prstGeom>
          <a:noFill/>
          <a:ln>
            <a:noFill/>
          </a:ln>
        </p:spPr>
      </p:pic>
      <p:sp>
        <p:nvSpPr>
          <p:cNvPr id="268" name="Google Shape;268;p15"/>
          <p:cNvSpPr txBox="1"/>
          <p:nvPr>
            <p:ph type="title"/>
          </p:nvPr>
        </p:nvSpPr>
        <p:spPr>
          <a:xfrm>
            <a:off x="4718817" y="110600"/>
            <a:ext cx="710697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s-ES"/>
              <a:t>Prioridad 1: Proteger la Desconexión</a:t>
            </a:r>
            <a:endParaRPr/>
          </a:p>
        </p:txBody>
      </p:sp>
      <p:sp>
        <p:nvSpPr>
          <p:cNvPr id="269" name="Google Shape;269;p15"/>
          <p:cNvSpPr/>
          <p:nvPr/>
        </p:nvSpPr>
        <p:spPr>
          <a:xfrm>
            <a:off x="5161672" y="3491823"/>
            <a:ext cx="6599976" cy="1571942"/>
          </a:xfrm>
          <a:prstGeom prst="roundRect">
            <a:avLst>
              <a:gd fmla="val 16667" name="adj"/>
            </a:avLst>
          </a:prstGeom>
          <a:solidFill>
            <a:srgbClr val="8CD872">
              <a:alpha val="15686"/>
            </a:srgb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1600">
              <a:solidFill>
                <a:schemeClr val="dk1"/>
              </a:solidFill>
              <a:latin typeface="Arial"/>
              <a:ea typeface="Arial"/>
              <a:cs typeface="Arial"/>
              <a:sym typeface="Arial"/>
            </a:endParaRPr>
          </a:p>
          <a:p>
            <a:pPr indent="0" lvl="0" marL="0" marR="0" rtl="0" algn="l">
              <a:spcBef>
                <a:spcPts val="0"/>
              </a:spcBef>
              <a:spcAft>
                <a:spcPts val="0"/>
              </a:spcAft>
              <a:buNone/>
            </a:pPr>
            <a:r>
              <a:rPr b="1" lang="es-ES" sz="1600">
                <a:solidFill>
                  <a:schemeClr val="dk1"/>
                </a:solidFill>
                <a:latin typeface="Arial"/>
                <a:ea typeface="Arial"/>
                <a:cs typeface="Arial"/>
                <a:sym typeface="Arial"/>
              </a:rPr>
              <a:t>Entrenar a Líderes</a:t>
            </a:r>
            <a:endParaRPr/>
          </a:p>
          <a:p>
            <a:pPr indent="0" lvl="0" marL="0" marR="0" rtl="0" algn="l">
              <a:spcBef>
                <a:spcPts val="0"/>
              </a:spcBef>
              <a:spcAft>
                <a:spcPts val="0"/>
              </a:spcAft>
              <a:buNone/>
            </a:pPr>
            <a:r>
              <a:t/>
            </a:r>
            <a:endParaRPr b="1" sz="1600">
              <a:solidFill>
                <a:schemeClr val="dk1"/>
              </a:solidFill>
              <a:latin typeface="Arial"/>
              <a:ea typeface="Arial"/>
              <a:cs typeface="Arial"/>
              <a:sym typeface="Arial"/>
            </a:endParaRPr>
          </a:p>
          <a:p>
            <a:pPr indent="0" lvl="0" marL="0" marR="0" rtl="0" algn="l">
              <a:spcBef>
                <a:spcPts val="0"/>
              </a:spcBef>
              <a:spcAft>
                <a:spcPts val="0"/>
              </a:spcAft>
              <a:buNone/>
            </a:pPr>
            <a:r>
              <a:rPr lang="es-ES" sz="1600">
                <a:solidFill>
                  <a:schemeClr val="dk1"/>
                </a:solidFill>
                <a:latin typeface="Arial"/>
                <a:ea typeface="Arial"/>
                <a:cs typeface="Arial"/>
                <a:sym typeface="Arial"/>
              </a:rPr>
              <a:t>Evitar enviar mensajes fuera del horario y revisar el valor del día Presencial para proteger el bienestar del equipo.</a:t>
            </a:r>
            <a:endParaRPr/>
          </a:p>
        </p:txBody>
      </p:sp>
      <p:pic>
        <p:nvPicPr>
          <p:cNvPr descr="Forma&#10;&#10;El contenido generado por IA puede ser incorrecto." id="270" name="Google Shape;270;p15"/>
          <p:cNvPicPr preferRelativeResize="0"/>
          <p:nvPr/>
        </p:nvPicPr>
        <p:blipFill rotWithShape="1">
          <a:blip r:embed="rId5">
            <a:alphaModFix/>
          </a:blip>
          <a:srcRect b="0" l="0" r="0" t="0"/>
          <a:stretch/>
        </p:blipFill>
        <p:spPr>
          <a:xfrm>
            <a:off x="5307596" y="3428998"/>
            <a:ext cx="569366" cy="569366"/>
          </a:xfrm>
          <a:prstGeom prst="rect">
            <a:avLst/>
          </a:prstGeom>
          <a:noFill/>
          <a:ln>
            <a:noFill/>
          </a:ln>
        </p:spPr>
      </p:pic>
      <p:sp>
        <p:nvSpPr>
          <p:cNvPr id="271" name="Google Shape;271;p15"/>
          <p:cNvSpPr/>
          <p:nvPr/>
        </p:nvSpPr>
        <p:spPr>
          <a:xfrm>
            <a:off x="5172667" y="5354423"/>
            <a:ext cx="6599976" cy="1021242"/>
          </a:xfrm>
          <a:prstGeom prst="roundRect">
            <a:avLst>
              <a:gd fmla="val 16667" name="adj"/>
            </a:avLst>
          </a:prstGeom>
          <a:solidFill>
            <a:srgbClr val="8CD872">
              <a:alpha val="15686"/>
            </a:srgb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chemeClr val="dk1"/>
              </a:solidFill>
              <a:latin typeface="Arial"/>
              <a:ea typeface="Arial"/>
              <a:cs typeface="Arial"/>
              <a:sym typeface="Arial"/>
            </a:endParaRPr>
          </a:p>
          <a:p>
            <a:pPr indent="0" lvl="0" marL="0" marR="0" rtl="0" algn="just">
              <a:spcBef>
                <a:spcPts val="0"/>
              </a:spcBef>
              <a:spcAft>
                <a:spcPts val="0"/>
              </a:spcAft>
              <a:buNone/>
            </a:pPr>
            <a:r>
              <a:rPr b="1" lang="es-ES" sz="1600">
                <a:solidFill>
                  <a:schemeClr val="dk1"/>
                </a:solidFill>
                <a:latin typeface="Arial"/>
                <a:ea typeface="Arial"/>
                <a:cs typeface="Arial"/>
                <a:sym typeface="Arial"/>
              </a:rPr>
              <a:t>Resultado:</a:t>
            </a:r>
            <a:r>
              <a:rPr lang="es-ES" sz="1600">
                <a:solidFill>
                  <a:schemeClr val="dk1"/>
                </a:solidFill>
                <a:latin typeface="Arial"/>
                <a:ea typeface="Arial"/>
                <a:cs typeface="Arial"/>
                <a:sym typeface="Arial"/>
              </a:rPr>
              <a:t> Elimina el riesgo de burnout y optimiza las políticas de flexibilidad.</a:t>
            </a:r>
            <a:endParaRPr/>
          </a:p>
        </p:txBody>
      </p:sp>
      <p:pic>
        <p:nvPicPr>
          <p:cNvPr descr="Forma&#10;&#10;El contenido generado por IA puede ser incorrecto." id="272" name="Google Shape;272;p15"/>
          <p:cNvPicPr preferRelativeResize="0"/>
          <p:nvPr/>
        </p:nvPicPr>
        <p:blipFill rotWithShape="1">
          <a:blip r:embed="rId6">
            <a:alphaModFix/>
          </a:blip>
          <a:srcRect b="0" l="0" r="0" t="0"/>
          <a:stretch/>
        </p:blipFill>
        <p:spPr>
          <a:xfrm>
            <a:off x="5422787" y="5429838"/>
            <a:ext cx="316108" cy="31610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pic>
        <p:nvPicPr>
          <p:cNvPr descr="Calendario&#10;&#10;El contenido generado por IA puede ser incorrecto." id="277" name="Google Shape;277;p16"/>
          <p:cNvPicPr preferRelativeResize="0"/>
          <p:nvPr>
            <p:ph idx="1" type="body"/>
          </p:nvPr>
        </p:nvPicPr>
        <p:blipFill rotWithShape="1">
          <a:blip r:embed="rId3">
            <a:alphaModFix/>
          </a:blip>
          <a:srcRect b="0" l="0" r="0" t="0"/>
          <a:stretch/>
        </p:blipFill>
        <p:spPr>
          <a:xfrm>
            <a:off x="0" y="-2"/>
            <a:ext cx="4597200" cy="6858001"/>
          </a:xfrm>
          <a:prstGeom prst="rect">
            <a:avLst/>
          </a:prstGeom>
          <a:noFill/>
          <a:ln>
            <a:noFill/>
          </a:ln>
        </p:spPr>
      </p:pic>
      <p:sp>
        <p:nvSpPr>
          <p:cNvPr id="278" name="Google Shape;278;p16"/>
          <p:cNvSpPr/>
          <p:nvPr/>
        </p:nvSpPr>
        <p:spPr>
          <a:xfrm>
            <a:off x="5169529" y="1661452"/>
            <a:ext cx="6599976" cy="2703158"/>
          </a:xfrm>
          <a:prstGeom prst="roundRect">
            <a:avLst>
              <a:gd fmla="val 16667" name="adj"/>
            </a:avLst>
          </a:prstGeom>
          <a:solidFill>
            <a:srgbClr val="8CD872">
              <a:alpha val="15686"/>
            </a:srgb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800">
              <a:solidFill>
                <a:schemeClr val="dk1"/>
              </a:solidFill>
              <a:latin typeface="Arial"/>
              <a:ea typeface="Arial"/>
              <a:cs typeface="Arial"/>
              <a:sym typeface="Arial"/>
            </a:endParaRPr>
          </a:p>
          <a:p>
            <a:pPr indent="0" lvl="0" marL="0" marR="0" rtl="0" algn="just">
              <a:spcBef>
                <a:spcPts val="0"/>
              </a:spcBef>
              <a:spcAft>
                <a:spcPts val="0"/>
              </a:spcAft>
              <a:buNone/>
            </a:pPr>
            <a:r>
              <a:t/>
            </a:r>
            <a:endParaRPr b="1" sz="1800">
              <a:solidFill>
                <a:schemeClr val="dk1"/>
              </a:solidFill>
              <a:latin typeface="Arial"/>
              <a:ea typeface="Arial"/>
              <a:cs typeface="Arial"/>
              <a:sym typeface="Arial"/>
            </a:endParaRPr>
          </a:p>
          <a:p>
            <a:pPr indent="0" lvl="0" marL="0" marR="0" rtl="0" algn="just">
              <a:spcBef>
                <a:spcPts val="0"/>
              </a:spcBef>
              <a:spcAft>
                <a:spcPts val="0"/>
              </a:spcAft>
              <a:buNone/>
            </a:pPr>
            <a:r>
              <a:rPr b="1" lang="es-ES" sz="1800">
                <a:solidFill>
                  <a:schemeClr val="dk1"/>
                </a:solidFill>
                <a:latin typeface="Arial"/>
                <a:ea typeface="Arial"/>
                <a:cs typeface="Arial"/>
                <a:sym typeface="Arial"/>
              </a:rPr>
              <a:t>Auditoría de Equidad y Liderazgo</a:t>
            </a:r>
            <a:endParaRPr/>
          </a:p>
          <a:p>
            <a:pPr indent="0" lvl="0" marL="0" marR="0" rtl="0" algn="just">
              <a:spcBef>
                <a:spcPts val="0"/>
              </a:spcBef>
              <a:spcAft>
                <a:spcPts val="0"/>
              </a:spcAft>
              <a:buNone/>
            </a:pPr>
            <a:r>
              <a:t/>
            </a:r>
            <a:endParaRPr b="1" sz="1800">
              <a:solidFill>
                <a:schemeClr val="dk1"/>
              </a:solidFill>
              <a:latin typeface="Arial"/>
              <a:ea typeface="Arial"/>
              <a:cs typeface="Arial"/>
              <a:sym typeface="Arial"/>
            </a:endParaRPr>
          </a:p>
          <a:p>
            <a:pPr indent="0" lvl="0" marL="0" marR="0" rtl="0" algn="l">
              <a:spcBef>
                <a:spcPts val="0"/>
              </a:spcBef>
              <a:spcAft>
                <a:spcPts val="0"/>
              </a:spcAft>
              <a:buNone/>
            </a:pPr>
            <a:r>
              <a:rPr lang="es-ES" sz="1600">
                <a:solidFill>
                  <a:schemeClr val="dk1"/>
                </a:solidFill>
                <a:latin typeface="Arial"/>
                <a:ea typeface="Arial"/>
                <a:cs typeface="Arial"/>
                <a:sym typeface="Arial"/>
              </a:rPr>
              <a:t>Disparidades de género en Dirección y RRHH requieren acción urgente.</a:t>
            </a:r>
            <a:endParaRPr/>
          </a:p>
          <a:p>
            <a:pPr indent="-101600" lvl="0" marL="0" marR="0" rtl="0" algn="l">
              <a:spcBef>
                <a:spcPts val="0"/>
              </a:spcBef>
              <a:spcAft>
                <a:spcPts val="0"/>
              </a:spcAft>
              <a:buClr>
                <a:schemeClr val="dk1"/>
              </a:buClr>
              <a:buSzPts val="1600"/>
              <a:buFont typeface="Arial"/>
              <a:buChar char="•"/>
            </a:pPr>
            <a:r>
              <a:rPr lang="es-ES" sz="1600">
                <a:solidFill>
                  <a:schemeClr val="dk1"/>
                </a:solidFill>
                <a:latin typeface="Arial"/>
                <a:ea typeface="Arial"/>
                <a:cs typeface="Arial"/>
                <a:sym typeface="Arial"/>
              </a:rPr>
              <a:t>Baja en el Sueño (Mujeres)</a:t>
            </a:r>
            <a:endParaRPr/>
          </a:p>
          <a:p>
            <a:pPr indent="-101600" lvl="0" marL="0" marR="0" rtl="0" algn="l">
              <a:spcBef>
                <a:spcPts val="0"/>
              </a:spcBef>
              <a:spcAft>
                <a:spcPts val="0"/>
              </a:spcAft>
              <a:buClr>
                <a:schemeClr val="dk1"/>
              </a:buClr>
              <a:buSzPts val="1600"/>
              <a:buFont typeface="Arial"/>
              <a:buChar char="•"/>
            </a:pPr>
            <a:r>
              <a:rPr lang="es-ES" sz="1600">
                <a:solidFill>
                  <a:schemeClr val="dk1"/>
                </a:solidFill>
                <a:latin typeface="Arial"/>
                <a:ea typeface="Arial"/>
                <a:cs typeface="Arial"/>
                <a:sym typeface="Arial"/>
              </a:rPr>
              <a:t>Sentido del Trabajo (Hombres)</a:t>
            </a:r>
            <a:endParaRPr/>
          </a:p>
          <a:p>
            <a:pPr indent="-101600" lvl="0" marL="0" marR="0" rtl="0" algn="l">
              <a:spcBef>
                <a:spcPts val="0"/>
              </a:spcBef>
              <a:spcAft>
                <a:spcPts val="0"/>
              </a:spcAft>
              <a:buClr>
                <a:schemeClr val="dk1"/>
              </a:buClr>
              <a:buSzPts val="1600"/>
              <a:buFont typeface="Arial"/>
              <a:buChar char="•"/>
            </a:pPr>
            <a:r>
              <a:rPr lang="es-ES" sz="1600">
                <a:solidFill>
                  <a:schemeClr val="dk1"/>
                </a:solidFill>
                <a:latin typeface="Arial"/>
                <a:ea typeface="Arial"/>
                <a:cs typeface="Arial"/>
                <a:sym typeface="Arial"/>
              </a:rPr>
              <a:t>Carga de trabajo desigual</a:t>
            </a:r>
            <a:endParaRPr/>
          </a:p>
          <a:p>
            <a:pPr indent="-101600" lvl="0" marL="0" marR="0" rtl="0" algn="l">
              <a:spcBef>
                <a:spcPts val="0"/>
              </a:spcBef>
              <a:spcAft>
                <a:spcPts val="0"/>
              </a:spcAft>
              <a:buClr>
                <a:schemeClr val="dk1"/>
              </a:buClr>
              <a:buSzPts val="1600"/>
              <a:buFont typeface="Arial"/>
              <a:buChar char="•"/>
            </a:pPr>
            <a:r>
              <a:rPr lang="es-ES" sz="1600">
                <a:solidFill>
                  <a:schemeClr val="dk1"/>
                </a:solidFill>
                <a:latin typeface="Arial"/>
                <a:ea typeface="Arial"/>
                <a:cs typeface="Arial"/>
                <a:sym typeface="Arial"/>
              </a:rPr>
              <a:t>Desalineamiento estratégico</a:t>
            </a:r>
            <a:endParaRPr/>
          </a:p>
          <a:p>
            <a:pPr indent="0" lvl="0" marL="0" marR="0" rtl="0" algn="l">
              <a:spcBef>
                <a:spcPts val="0"/>
              </a:spcBef>
              <a:spcAft>
                <a:spcPts val="0"/>
              </a:spcAft>
              <a:buNone/>
            </a:pPr>
            <a:r>
              <a:t/>
            </a:r>
            <a:endParaRPr sz="1600">
              <a:solidFill>
                <a:schemeClr val="dk1"/>
              </a:solidFill>
              <a:latin typeface="Arial"/>
              <a:ea typeface="Arial"/>
              <a:cs typeface="Arial"/>
              <a:sym typeface="Arial"/>
            </a:endParaRPr>
          </a:p>
        </p:txBody>
      </p:sp>
      <p:pic>
        <p:nvPicPr>
          <p:cNvPr descr="Forma&#10;&#10;El contenido generado por IA puede ser incorrecto." id="279" name="Google Shape;279;p16"/>
          <p:cNvPicPr preferRelativeResize="0"/>
          <p:nvPr/>
        </p:nvPicPr>
        <p:blipFill rotWithShape="1">
          <a:blip r:embed="rId4">
            <a:alphaModFix/>
          </a:blip>
          <a:srcRect b="0" l="0" r="0" t="0"/>
          <a:stretch/>
        </p:blipFill>
        <p:spPr>
          <a:xfrm>
            <a:off x="5307596" y="1716450"/>
            <a:ext cx="431299" cy="431299"/>
          </a:xfrm>
          <a:prstGeom prst="rect">
            <a:avLst/>
          </a:prstGeom>
          <a:noFill/>
          <a:ln>
            <a:noFill/>
          </a:ln>
        </p:spPr>
      </p:pic>
      <p:sp>
        <p:nvSpPr>
          <p:cNvPr id="280" name="Google Shape;280;p16"/>
          <p:cNvSpPr txBox="1"/>
          <p:nvPr>
            <p:ph type="title"/>
          </p:nvPr>
        </p:nvSpPr>
        <p:spPr>
          <a:xfrm>
            <a:off x="4718817" y="110600"/>
            <a:ext cx="710697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s-ES"/>
              <a:t>Prioridad 2: Auditoría de Equidad</a:t>
            </a:r>
            <a:endParaRPr/>
          </a:p>
        </p:txBody>
      </p:sp>
      <p:sp>
        <p:nvSpPr>
          <p:cNvPr id="281" name="Google Shape;281;p16"/>
          <p:cNvSpPr/>
          <p:nvPr/>
        </p:nvSpPr>
        <p:spPr>
          <a:xfrm>
            <a:off x="5172667" y="5354423"/>
            <a:ext cx="6599976" cy="1021242"/>
          </a:xfrm>
          <a:prstGeom prst="roundRect">
            <a:avLst>
              <a:gd fmla="val 16667" name="adj"/>
            </a:avLst>
          </a:prstGeom>
          <a:solidFill>
            <a:srgbClr val="8CD872">
              <a:alpha val="15686"/>
            </a:srgb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chemeClr val="dk1"/>
              </a:solidFill>
              <a:latin typeface="Arial"/>
              <a:ea typeface="Arial"/>
              <a:cs typeface="Arial"/>
              <a:sym typeface="Arial"/>
            </a:endParaRPr>
          </a:p>
          <a:p>
            <a:pPr indent="0" lvl="0" marL="0" marR="0" rtl="0" algn="just">
              <a:spcBef>
                <a:spcPts val="0"/>
              </a:spcBef>
              <a:spcAft>
                <a:spcPts val="0"/>
              </a:spcAft>
              <a:buNone/>
            </a:pPr>
            <a:r>
              <a:t/>
            </a:r>
            <a:endParaRPr b="1" sz="1600">
              <a:solidFill>
                <a:schemeClr val="dk1"/>
              </a:solidFill>
              <a:latin typeface="Arial"/>
              <a:ea typeface="Arial"/>
              <a:cs typeface="Arial"/>
              <a:sym typeface="Arial"/>
            </a:endParaRPr>
          </a:p>
          <a:p>
            <a:pPr indent="0" lvl="0" marL="0" marR="0" rtl="0" algn="just">
              <a:spcBef>
                <a:spcPts val="0"/>
              </a:spcBef>
              <a:spcAft>
                <a:spcPts val="0"/>
              </a:spcAft>
              <a:buNone/>
            </a:pPr>
            <a:r>
              <a:rPr b="1" lang="es-ES" sz="1600">
                <a:solidFill>
                  <a:schemeClr val="dk1"/>
                </a:solidFill>
                <a:latin typeface="Arial"/>
                <a:ea typeface="Arial"/>
                <a:cs typeface="Arial"/>
                <a:sym typeface="Arial"/>
              </a:rPr>
              <a:t>Resultado:</a:t>
            </a:r>
            <a:r>
              <a:rPr lang="es-ES" sz="1600">
                <a:solidFill>
                  <a:schemeClr val="dk1"/>
                </a:solidFill>
                <a:latin typeface="Arial"/>
                <a:ea typeface="Arial"/>
                <a:cs typeface="Arial"/>
                <a:sym typeface="Arial"/>
              </a:rPr>
              <a:t> Reduce el riesgo de rotación en puestos clave y garantiza la equidad interna.</a:t>
            </a:r>
            <a:endParaRPr/>
          </a:p>
          <a:p>
            <a:pPr indent="0" lvl="0" marL="0" marR="0" rtl="0" algn="just">
              <a:spcBef>
                <a:spcPts val="0"/>
              </a:spcBef>
              <a:spcAft>
                <a:spcPts val="0"/>
              </a:spcAft>
              <a:buNone/>
            </a:pPr>
            <a:r>
              <a:t/>
            </a:r>
            <a:endParaRPr sz="1600">
              <a:solidFill>
                <a:schemeClr val="dk1"/>
              </a:solidFill>
              <a:latin typeface="Arial"/>
              <a:ea typeface="Arial"/>
              <a:cs typeface="Arial"/>
              <a:sym typeface="Arial"/>
            </a:endParaRPr>
          </a:p>
        </p:txBody>
      </p:sp>
      <p:pic>
        <p:nvPicPr>
          <p:cNvPr descr="Forma&#10;&#10;El contenido generado por IA puede ser incorrecto." id="282" name="Google Shape;282;p16"/>
          <p:cNvPicPr preferRelativeResize="0"/>
          <p:nvPr/>
        </p:nvPicPr>
        <p:blipFill rotWithShape="1">
          <a:blip r:embed="rId5">
            <a:alphaModFix/>
          </a:blip>
          <a:srcRect b="0" l="0" r="0" t="0"/>
          <a:stretch/>
        </p:blipFill>
        <p:spPr>
          <a:xfrm>
            <a:off x="5422787" y="5429838"/>
            <a:ext cx="316108" cy="31610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pic>
        <p:nvPicPr>
          <p:cNvPr descr="Calendario&#10;&#10;El contenido generado por IA puede ser incorrecto." id="287" name="Google Shape;287;p17"/>
          <p:cNvPicPr preferRelativeResize="0"/>
          <p:nvPr>
            <p:ph idx="1" type="body"/>
          </p:nvPr>
        </p:nvPicPr>
        <p:blipFill rotWithShape="1">
          <a:blip r:embed="rId3">
            <a:alphaModFix/>
          </a:blip>
          <a:srcRect b="0" l="0" r="0" t="0"/>
          <a:stretch/>
        </p:blipFill>
        <p:spPr>
          <a:xfrm>
            <a:off x="0" y="-2"/>
            <a:ext cx="4597200" cy="6858001"/>
          </a:xfrm>
          <a:prstGeom prst="rect">
            <a:avLst/>
          </a:prstGeom>
          <a:noFill/>
          <a:ln>
            <a:noFill/>
          </a:ln>
        </p:spPr>
      </p:pic>
      <p:sp>
        <p:nvSpPr>
          <p:cNvPr id="288" name="Google Shape;288;p17"/>
          <p:cNvSpPr/>
          <p:nvPr/>
        </p:nvSpPr>
        <p:spPr>
          <a:xfrm>
            <a:off x="5169529" y="1661452"/>
            <a:ext cx="6599976" cy="2703158"/>
          </a:xfrm>
          <a:prstGeom prst="roundRect">
            <a:avLst>
              <a:gd fmla="val 16667" name="adj"/>
            </a:avLst>
          </a:prstGeom>
          <a:solidFill>
            <a:srgbClr val="8CD872">
              <a:alpha val="15686"/>
            </a:srgb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800">
              <a:solidFill>
                <a:schemeClr val="dk1"/>
              </a:solidFill>
              <a:latin typeface="Arial"/>
              <a:ea typeface="Arial"/>
              <a:cs typeface="Arial"/>
              <a:sym typeface="Arial"/>
            </a:endParaRPr>
          </a:p>
          <a:p>
            <a:pPr indent="0" lvl="0" marL="0" marR="0" rtl="0" algn="just">
              <a:spcBef>
                <a:spcPts val="0"/>
              </a:spcBef>
              <a:spcAft>
                <a:spcPts val="0"/>
              </a:spcAft>
              <a:buNone/>
            </a:pPr>
            <a:r>
              <a:rPr b="1" lang="es-ES" sz="1800">
                <a:solidFill>
                  <a:schemeClr val="dk1"/>
                </a:solidFill>
                <a:latin typeface="Arial"/>
                <a:ea typeface="Arial"/>
                <a:cs typeface="Arial"/>
                <a:sym typeface="Arial"/>
              </a:rPr>
              <a:t>Focalización Estratégica en el Riesgo</a:t>
            </a:r>
            <a:endParaRPr/>
          </a:p>
          <a:p>
            <a:pPr indent="0" lvl="0" marL="0" marR="0" rtl="0" algn="just">
              <a:spcBef>
                <a:spcPts val="0"/>
              </a:spcBef>
              <a:spcAft>
                <a:spcPts val="0"/>
              </a:spcAft>
              <a:buNone/>
            </a:pPr>
            <a:r>
              <a:t/>
            </a:r>
            <a:endParaRPr b="1" sz="1800">
              <a:solidFill>
                <a:schemeClr val="dk1"/>
              </a:solidFill>
              <a:latin typeface="Arial"/>
              <a:ea typeface="Arial"/>
              <a:cs typeface="Arial"/>
              <a:sym typeface="Arial"/>
            </a:endParaRPr>
          </a:p>
          <a:p>
            <a:pPr indent="-285750" lvl="0" marL="285750" marR="0" rtl="0" algn="just">
              <a:spcBef>
                <a:spcPts val="0"/>
              </a:spcBef>
              <a:spcAft>
                <a:spcPts val="0"/>
              </a:spcAft>
              <a:buClr>
                <a:schemeClr val="dk1"/>
              </a:buClr>
              <a:buSzPts val="1600"/>
              <a:buFont typeface="Arial"/>
              <a:buChar char="•"/>
            </a:pPr>
            <a:r>
              <a:rPr lang="es-ES" sz="1600">
                <a:solidFill>
                  <a:schemeClr val="dk1"/>
                </a:solidFill>
                <a:latin typeface="Arial"/>
                <a:ea typeface="Arial"/>
                <a:cs typeface="Arial"/>
                <a:sym typeface="Arial"/>
              </a:rPr>
              <a:t>Dejar de invertir en acciones de bienestar genéricas e invertir </a:t>
            </a:r>
            <a:r>
              <a:rPr b="1" lang="es-ES" sz="1600">
                <a:solidFill>
                  <a:schemeClr val="dk1"/>
                </a:solidFill>
                <a:latin typeface="Arial"/>
                <a:ea typeface="Arial"/>
                <a:cs typeface="Arial"/>
                <a:sym typeface="Arial"/>
              </a:rPr>
              <a:t>solo en los </a:t>
            </a:r>
            <a:r>
              <a:rPr b="1" i="1" lang="es-ES" sz="1600">
                <a:solidFill>
                  <a:schemeClr val="dk1"/>
                </a:solidFill>
                <a:latin typeface="Arial"/>
                <a:ea typeface="Arial"/>
                <a:cs typeface="Arial"/>
                <a:sym typeface="Arial"/>
              </a:rPr>
              <a:t>Clusters</a:t>
            </a:r>
            <a:r>
              <a:rPr b="1" lang="es-ES" sz="1600">
                <a:solidFill>
                  <a:schemeClr val="dk1"/>
                </a:solidFill>
                <a:latin typeface="Arial"/>
                <a:ea typeface="Arial"/>
                <a:cs typeface="Arial"/>
                <a:sym typeface="Arial"/>
              </a:rPr>
              <a:t> de Riesgo</a:t>
            </a:r>
            <a:r>
              <a:rPr lang="es-ES" sz="1600">
                <a:solidFill>
                  <a:schemeClr val="dk1"/>
                </a:solidFill>
                <a:latin typeface="Arial"/>
                <a:ea typeface="Arial"/>
                <a:cs typeface="Arial"/>
                <a:sym typeface="Arial"/>
              </a:rPr>
              <a:t> y en el departamento de </a:t>
            </a:r>
            <a:r>
              <a:rPr b="1" lang="es-ES" sz="1600">
                <a:solidFill>
                  <a:schemeClr val="dk1"/>
                </a:solidFill>
                <a:latin typeface="Arial"/>
                <a:ea typeface="Arial"/>
                <a:cs typeface="Arial"/>
                <a:sym typeface="Arial"/>
              </a:rPr>
              <a:t>Operaciones</a:t>
            </a:r>
            <a:r>
              <a:rPr lang="es-ES" sz="1600">
                <a:solidFill>
                  <a:schemeClr val="dk1"/>
                </a:solidFill>
                <a:latin typeface="Arial"/>
                <a:ea typeface="Arial"/>
                <a:cs typeface="Arial"/>
                <a:sym typeface="Arial"/>
              </a:rPr>
              <a:t>.</a:t>
            </a:r>
            <a:endParaRPr/>
          </a:p>
          <a:p>
            <a:pPr indent="-285750" lvl="0" marL="285750" marR="0" rtl="0" algn="just">
              <a:spcBef>
                <a:spcPts val="0"/>
              </a:spcBef>
              <a:spcAft>
                <a:spcPts val="0"/>
              </a:spcAft>
              <a:buClr>
                <a:schemeClr val="dk1"/>
              </a:buClr>
              <a:buSzPts val="1600"/>
              <a:buFont typeface="Arial"/>
              <a:buChar char="•"/>
            </a:pPr>
            <a:r>
              <a:rPr lang="es-ES" sz="1600">
                <a:solidFill>
                  <a:schemeClr val="dk1"/>
                </a:solidFill>
                <a:latin typeface="Arial"/>
                <a:ea typeface="Arial"/>
                <a:cs typeface="Arial"/>
                <a:sym typeface="Arial"/>
              </a:rPr>
              <a:t>En Operaciones, centrarse en la </a:t>
            </a:r>
            <a:r>
              <a:rPr b="1" lang="es-ES" sz="1600">
                <a:solidFill>
                  <a:schemeClr val="dk1"/>
                </a:solidFill>
                <a:latin typeface="Arial"/>
                <a:ea typeface="Arial"/>
                <a:cs typeface="Arial"/>
                <a:sym typeface="Arial"/>
              </a:rPr>
              <a:t>Comunicación del Propósito</a:t>
            </a:r>
            <a:r>
              <a:rPr lang="es-ES" sz="1600">
                <a:solidFill>
                  <a:schemeClr val="dk1"/>
                </a:solidFill>
                <a:latin typeface="Arial"/>
                <a:ea typeface="Arial"/>
                <a:cs typeface="Arial"/>
                <a:sym typeface="Arial"/>
              </a:rPr>
              <a:t> y el </a:t>
            </a:r>
            <a:r>
              <a:rPr b="1" lang="es-ES" sz="1600">
                <a:solidFill>
                  <a:schemeClr val="dk1"/>
                </a:solidFill>
                <a:latin typeface="Arial"/>
                <a:ea typeface="Arial"/>
                <a:cs typeface="Arial"/>
                <a:sym typeface="Arial"/>
              </a:rPr>
              <a:t>Reconocimiento</a:t>
            </a:r>
            <a:r>
              <a:rPr lang="es-ES" sz="1600">
                <a:solidFill>
                  <a:schemeClr val="dk1"/>
                </a:solidFill>
                <a:latin typeface="Arial"/>
                <a:ea typeface="Arial"/>
                <a:cs typeface="Arial"/>
                <a:sym typeface="Arial"/>
              </a:rPr>
              <a:t>. En los </a:t>
            </a:r>
            <a:r>
              <a:rPr i="1" lang="es-ES" sz="1600">
                <a:solidFill>
                  <a:schemeClr val="dk1"/>
                </a:solidFill>
                <a:latin typeface="Arial"/>
                <a:ea typeface="Arial"/>
                <a:cs typeface="Arial"/>
                <a:sym typeface="Arial"/>
              </a:rPr>
              <a:t>Clusters</a:t>
            </a:r>
            <a:r>
              <a:rPr lang="es-ES" sz="1600">
                <a:solidFill>
                  <a:schemeClr val="dk1"/>
                </a:solidFill>
                <a:latin typeface="Arial"/>
                <a:ea typeface="Arial"/>
                <a:cs typeface="Arial"/>
                <a:sym typeface="Arial"/>
              </a:rPr>
              <a:t>, intervenir con acciones específicas para </a:t>
            </a:r>
            <a:r>
              <a:rPr b="1" lang="es-ES" sz="1600">
                <a:solidFill>
                  <a:schemeClr val="dk1"/>
                </a:solidFill>
                <a:latin typeface="Arial"/>
                <a:ea typeface="Arial"/>
                <a:cs typeface="Arial"/>
                <a:sym typeface="Arial"/>
              </a:rPr>
              <a:t>concentración y ánimo</a:t>
            </a:r>
            <a:r>
              <a:rPr lang="es-ES" sz="1600">
                <a:solidFill>
                  <a:schemeClr val="dk1"/>
                </a:solidFill>
                <a:latin typeface="Arial"/>
                <a:ea typeface="Arial"/>
                <a:cs typeface="Arial"/>
                <a:sym typeface="Arial"/>
              </a:rPr>
              <a:t>.</a:t>
            </a:r>
            <a:endParaRPr/>
          </a:p>
        </p:txBody>
      </p:sp>
      <p:pic>
        <p:nvPicPr>
          <p:cNvPr descr="Forma&#10;&#10;El contenido generado por IA puede ser incorrecto." id="289" name="Google Shape;289;p17"/>
          <p:cNvPicPr preferRelativeResize="0"/>
          <p:nvPr/>
        </p:nvPicPr>
        <p:blipFill rotWithShape="1">
          <a:blip r:embed="rId4">
            <a:alphaModFix/>
          </a:blip>
          <a:srcRect b="0" l="0" r="0" t="0"/>
          <a:stretch/>
        </p:blipFill>
        <p:spPr>
          <a:xfrm>
            <a:off x="5307596" y="1716450"/>
            <a:ext cx="431299" cy="431299"/>
          </a:xfrm>
          <a:prstGeom prst="rect">
            <a:avLst/>
          </a:prstGeom>
          <a:noFill/>
          <a:ln>
            <a:noFill/>
          </a:ln>
        </p:spPr>
      </p:pic>
      <p:sp>
        <p:nvSpPr>
          <p:cNvPr id="290" name="Google Shape;290;p17"/>
          <p:cNvSpPr txBox="1"/>
          <p:nvPr>
            <p:ph type="title"/>
          </p:nvPr>
        </p:nvSpPr>
        <p:spPr>
          <a:xfrm>
            <a:off x="4718817" y="110600"/>
            <a:ext cx="710697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s-ES"/>
              <a:t>Prioridad 3: Focalizar Recursos</a:t>
            </a:r>
            <a:endParaRPr/>
          </a:p>
        </p:txBody>
      </p:sp>
      <p:sp>
        <p:nvSpPr>
          <p:cNvPr id="291" name="Google Shape;291;p17"/>
          <p:cNvSpPr/>
          <p:nvPr/>
        </p:nvSpPr>
        <p:spPr>
          <a:xfrm>
            <a:off x="5172667" y="5354423"/>
            <a:ext cx="6599976" cy="1021242"/>
          </a:xfrm>
          <a:prstGeom prst="roundRect">
            <a:avLst>
              <a:gd fmla="val 16667" name="adj"/>
            </a:avLst>
          </a:prstGeom>
          <a:solidFill>
            <a:srgbClr val="8CD872">
              <a:alpha val="15686"/>
            </a:srgb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chemeClr val="dk1"/>
              </a:solidFill>
              <a:latin typeface="Arial"/>
              <a:ea typeface="Arial"/>
              <a:cs typeface="Arial"/>
              <a:sym typeface="Arial"/>
            </a:endParaRPr>
          </a:p>
          <a:p>
            <a:pPr indent="0" lvl="0" marL="0" marR="0" rtl="0" algn="just">
              <a:spcBef>
                <a:spcPts val="0"/>
              </a:spcBef>
              <a:spcAft>
                <a:spcPts val="0"/>
              </a:spcAft>
              <a:buNone/>
            </a:pPr>
            <a:r>
              <a:t/>
            </a:r>
            <a:endParaRPr b="1" sz="1600">
              <a:solidFill>
                <a:schemeClr val="dk1"/>
              </a:solidFill>
              <a:latin typeface="Arial"/>
              <a:ea typeface="Arial"/>
              <a:cs typeface="Arial"/>
              <a:sym typeface="Arial"/>
            </a:endParaRPr>
          </a:p>
          <a:p>
            <a:pPr indent="0" lvl="0" marL="0" marR="0" rtl="0" algn="just">
              <a:spcBef>
                <a:spcPts val="0"/>
              </a:spcBef>
              <a:spcAft>
                <a:spcPts val="0"/>
              </a:spcAft>
              <a:buNone/>
            </a:pPr>
            <a:r>
              <a:rPr b="1" lang="es-ES" sz="1600">
                <a:solidFill>
                  <a:schemeClr val="dk1"/>
                </a:solidFill>
                <a:latin typeface="Arial"/>
                <a:ea typeface="Arial"/>
                <a:cs typeface="Arial"/>
                <a:sym typeface="Arial"/>
              </a:rPr>
              <a:t>Resultado:</a:t>
            </a:r>
            <a:r>
              <a:rPr lang="es-ES" sz="1600">
                <a:solidFill>
                  <a:schemeClr val="dk1"/>
                </a:solidFill>
                <a:latin typeface="Arial"/>
                <a:ea typeface="Arial"/>
                <a:cs typeface="Arial"/>
                <a:sym typeface="Arial"/>
              </a:rPr>
              <a:t> Garantiza el máximo retorno sobre la inversión (ROI) en bienestar</a:t>
            </a:r>
            <a:endParaRPr/>
          </a:p>
          <a:p>
            <a:pPr indent="0" lvl="0" marL="0" marR="0" rtl="0" algn="just">
              <a:spcBef>
                <a:spcPts val="0"/>
              </a:spcBef>
              <a:spcAft>
                <a:spcPts val="0"/>
              </a:spcAft>
              <a:buNone/>
            </a:pPr>
            <a:r>
              <a:t/>
            </a:r>
            <a:endParaRPr sz="1600">
              <a:solidFill>
                <a:schemeClr val="dk1"/>
              </a:solidFill>
              <a:latin typeface="Arial"/>
              <a:ea typeface="Arial"/>
              <a:cs typeface="Arial"/>
              <a:sym typeface="Arial"/>
            </a:endParaRPr>
          </a:p>
        </p:txBody>
      </p:sp>
      <p:pic>
        <p:nvPicPr>
          <p:cNvPr descr="Forma&#10;&#10;El contenido generado por IA puede ser incorrecto." id="292" name="Google Shape;292;p17"/>
          <p:cNvPicPr preferRelativeResize="0"/>
          <p:nvPr/>
        </p:nvPicPr>
        <p:blipFill rotWithShape="1">
          <a:blip r:embed="rId5">
            <a:alphaModFix/>
          </a:blip>
          <a:srcRect b="0" l="0" r="0" t="0"/>
          <a:stretch/>
        </p:blipFill>
        <p:spPr>
          <a:xfrm>
            <a:off x="5422787" y="5429838"/>
            <a:ext cx="316108" cy="31610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18"/>
          <p:cNvSpPr txBox="1"/>
          <p:nvPr>
            <p:ph type="ctrTitle"/>
          </p:nvPr>
        </p:nvSpPr>
        <p:spPr>
          <a:xfrm>
            <a:off x="-85458" y="1"/>
            <a:ext cx="12277458" cy="199675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3600"/>
              <a:buFont typeface="Play"/>
              <a:buNone/>
            </a:pPr>
            <a:r>
              <a:rPr b="1" lang="es-ES" sz="3600"/>
              <a:t>¡Gracias por su tiempo y atención!</a:t>
            </a:r>
            <a:br>
              <a:rPr lang="es-ES" sz="3600"/>
            </a:br>
            <a:r>
              <a:rPr lang="es-ES" sz="3600"/>
              <a:t>Esperamos que esta herramienta se convierta en la </a:t>
            </a:r>
            <a:r>
              <a:rPr b="1" lang="es-ES" sz="3600"/>
              <a:t>voz objetiva de sus colaboradores</a:t>
            </a:r>
            <a:r>
              <a:rPr lang="es-ES" sz="3600"/>
              <a:t>.</a:t>
            </a:r>
            <a:endParaRPr/>
          </a:p>
        </p:txBody>
      </p:sp>
      <p:pic>
        <p:nvPicPr>
          <p:cNvPr descr="Un dibujo de una persona" id="298" name="Google Shape;298;p18"/>
          <p:cNvPicPr preferRelativeResize="0"/>
          <p:nvPr/>
        </p:nvPicPr>
        <p:blipFill rotWithShape="1">
          <a:blip r:embed="rId3">
            <a:alphaModFix/>
          </a:blip>
          <a:srcRect b="0" l="0" r="0" t="0"/>
          <a:stretch/>
        </p:blipFill>
        <p:spPr>
          <a:xfrm>
            <a:off x="2147540" y="2530212"/>
            <a:ext cx="7896919" cy="432778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2025-11-06T15:49:28Z</dcterms:created>
  <dc:creator>Raul Pachu Hamad</dc:creator>
</cp:coreProperties>
</file>